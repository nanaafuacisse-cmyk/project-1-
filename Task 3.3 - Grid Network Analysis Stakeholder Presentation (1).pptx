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1.png"/><Relationship Id="rId3" Type="http://schemas.openxmlformats.org/officeDocument/2006/relationships/image" Target="../media/image-17-1.png"/><Relationship Id="rId4" Type="http://schemas.openxmlformats.org/officeDocument/2006/relationships/image" Target="../media/image-17-1.png"/><Relationship Id="rId5" Type="http://schemas.openxmlformats.org/officeDocument/2006/relationships/image" Target="../media/image-17-1.png"/><Relationship Id="rId6" Type="http://schemas.openxmlformats.org/officeDocument/2006/relationships/image" Target="../media/image-17-1.png"/><Relationship Id="rId7" Type="http://schemas.openxmlformats.org/officeDocument/2006/relationships/image" Target="../media/image-17-1.png"/><Relationship Id="rId8" Type="http://schemas.openxmlformats.org/officeDocument/2006/relationships/image" Target="../media/image-17-1.png"/><Relationship Id="rId9" Type="http://schemas.openxmlformats.org/officeDocument/2006/relationships/image" Target="../media/image-17-1.png"/><Relationship Id="rId10" Type="http://schemas.openxmlformats.org/officeDocument/2006/relationships/image" Target="../media/image-17-1.png"/><Relationship Id="rId11" Type="http://schemas.openxmlformats.org/officeDocument/2006/relationships/image" Target="../media/image-17-1.png"/><Relationship Id="rId12" Type="http://schemas.openxmlformats.org/officeDocument/2006/relationships/image" Target="../media/image-17-1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1.png"/><Relationship Id="rId3" Type="http://schemas.openxmlformats.org/officeDocument/2006/relationships/image" Target="../media/image-21-1.png"/><Relationship Id="rId4" Type="http://schemas.openxmlformats.org/officeDocument/2006/relationships/image" Target="../media/image-2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120640"/>
            <a:ext cx="12191695" cy="0"/>
          </a:xfrm>
          <a:prstGeom prst="line">
            <a:avLst/>
          </a:prstGeom>
          <a:noFill/>
          <a:ln w="12700">
            <a:solidFill>
              <a:srgbClr val="223A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539496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2834640" y="585216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Shape 3"/>
          <p:cNvSpPr/>
          <p:nvPr/>
        </p:nvSpPr>
        <p:spPr>
          <a:xfrm>
            <a:off x="4754880" y="539496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0" y="585216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0" y="539496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Shape 6"/>
          <p:cNvSpPr/>
          <p:nvPr/>
        </p:nvSpPr>
        <p:spPr>
          <a:xfrm>
            <a:off x="10515600" y="585216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Shape 7"/>
          <p:cNvSpPr/>
          <p:nvPr/>
        </p:nvSpPr>
        <p:spPr>
          <a:xfrm>
            <a:off x="950976" y="5431536"/>
            <a:ext cx="1920240" cy="457200"/>
          </a:xfrm>
          <a:prstGeom prst="line">
            <a:avLst/>
          </a:prstGeom>
          <a:noFill/>
          <a:ln w="19050">
            <a:solidFill>
              <a:srgbClr val="3A55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71216" y="5888736"/>
            <a:ext cx="1920240" cy="-457200"/>
          </a:xfrm>
          <a:prstGeom prst="line">
            <a:avLst/>
          </a:prstGeom>
          <a:noFill/>
          <a:ln w="19050">
            <a:solidFill>
              <a:srgbClr val="3A557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91456" y="5431536"/>
            <a:ext cx="1920240" cy="457200"/>
          </a:xfrm>
          <a:prstGeom prst="line">
            <a:avLst/>
          </a:prstGeom>
          <a:noFill/>
          <a:ln w="19050">
            <a:solidFill>
              <a:srgbClr val="3A55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11696" y="5888736"/>
            <a:ext cx="1920240" cy="-457200"/>
          </a:xfrm>
          <a:prstGeom prst="line">
            <a:avLst/>
          </a:prstGeom>
          <a:noFill/>
          <a:ln w="19050">
            <a:solidFill>
              <a:srgbClr val="3A55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31936" y="5431536"/>
            <a:ext cx="1920240" cy="457200"/>
          </a:xfrm>
          <a:prstGeom prst="line">
            <a:avLst/>
          </a:prstGeom>
          <a:noFill/>
          <a:ln w="19050">
            <a:solidFill>
              <a:srgbClr val="3A557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548640"/>
            <a:ext cx="685800" cy="6858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5" name="Image 0" descr="/home/claude/icons/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945" y="702945"/>
            <a:ext cx="377190" cy="37719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417320" y="62179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112 · SUMMER 2026 · INTEGRATED DATA SCIENCE &amp; SOFTWARE ENGINEERING PROJECT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1920240"/>
            <a:ext cx="10789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National Electricity Grid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Analysis</a:t>
            </a:r>
            <a:endParaRPr lang="en-US" sz="46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361188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Science, Graph Theory, and Business Intelligence for National Grid Infrastructure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4343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3.3 — Documentation &amp; Presentation for Stakeholders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4892040"/>
            <a:ext cx="3566160" cy="18288"/>
          </a:xfrm>
          <a:prstGeom prst="rect">
            <a:avLst/>
          </a:prstGeom>
          <a:solidFill>
            <a:srgbClr val="2A4666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6309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 ·  Course Instructor  ·  Ghana Electricity Sector Context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1170432"/>
          </a:xfrm>
          <a:prstGeom prst="roundRect">
            <a:avLst>
              <a:gd name="adj" fmla="val 6250"/>
            </a:avLst>
          </a:prstGeom>
          <a:solidFill>
            <a:srgbClr val="EAF0F7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19072"/>
            <a:ext cx="566928" cy="566928"/>
          </a:xfrm>
          <a:prstGeom prst="ellipse">
            <a:avLst/>
          </a:prstGeom>
          <a:solidFill>
            <a:srgbClr val="132A4A"/>
          </a:solidFill>
          <a:ln/>
        </p:spPr>
      </p:sp>
      <p:pic>
        <p:nvPicPr>
          <p:cNvPr id="6" name="Image 0" descr="/home/claude/icons/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367" y="1846631"/>
            <a:ext cx="311810" cy="31181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5819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Introduction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19202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grid matters, and how we frame it as a network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537960" y="1417320"/>
            <a:ext cx="5486400" cy="1170432"/>
          </a:xfrm>
          <a:prstGeom prst="roundRect">
            <a:avLst>
              <a:gd name="adj" fmla="val 6250"/>
            </a:avLst>
          </a:prstGeom>
          <a:solidFill>
            <a:srgbClr val="EAF0F7"/>
          </a:solidFill>
          <a:ln/>
        </p:spPr>
      </p:sp>
      <p:sp>
        <p:nvSpPr>
          <p:cNvPr id="10" name="Shape 7"/>
          <p:cNvSpPr/>
          <p:nvPr/>
        </p:nvSpPr>
        <p:spPr>
          <a:xfrm>
            <a:off x="6739128" y="1719072"/>
            <a:ext cx="566928" cy="566928"/>
          </a:xfrm>
          <a:prstGeom prst="ellipse">
            <a:avLst/>
          </a:prstGeom>
          <a:solidFill>
            <a:srgbClr val="132A4A"/>
          </a:solidFill>
          <a:ln/>
        </p:spPr>
      </p:sp>
      <p:pic>
        <p:nvPicPr>
          <p:cNvPr id="11" name="Image 1" descr="/home/claude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6687" y="1846631"/>
            <a:ext cx="311810" cy="31181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52360" y="15819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7452360" y="19202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Utilities, substations, and transmission/distribution lines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2697480"/>
            <a:ext cx="5486400" cy="1170432"/>
          </a:xfrm>
          <a:prstGeom prst="roundRect">
            <a:avLst>
              <a:gd name="adj" fmla="val 6250"/>
            </a:avLst>
          </a:prstGeom>
          <a:solidFill>
            <a:srgbClr val="EAF0F7"/>
          </a:solidFill>
          <a:ln/>
        </p:spPr>
      </p:sp>
      <p:sp>
        <p:nvSpPr>
          <p:cNvPr id="15" name="Shape 11"/>
          <p:cNvSpPr/>
          <p:nvPr/>
        </p:nvSpPr>
        <p:spPr>
          <a:xfrm>
            <a:off x="749808" y="2999232"/>
            <a:ext cx="566928" cy="566928"/>
          </a:xfrm>
          <a:prstGeom prst="ellipse">
            <a:avLst/>
          </a:prstGeom>
          <a:solidFill>
            <a:srgbClr val="132A4A"/>
          </a:solidFill>
          <a:ln/>
        </p:spPr>
      </p:sp>
      <p:pic>
        <p:nvPicPr>
          <p:cNvPr id="16" name="Image 2" descr="/home/claude/icon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367" y="3126791"/>
            <a:ext cx="311810" cy="31181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28620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 &amp; EDA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1463040" y="32004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validation, and exploratory findings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537960" y="2697480"/>
            <a:ext cx="5486400" cy="1170432"/>
          </a:xfrm>
          <a:prstGeom prst="roundRect">
            <a:avLst>
              <a:gd name="adj" fmla="val 6250"/>
            </a:avLst>
          </a:prstGeom>
          <a:solidFill>
            <a:srgbClr val="EAF0F7"/>
          </a:solidFill>
          <a:ln/>
        </p:spPr>
      </p:sp>
      <p:sp>
        <p:nvSpPr>
          <p:cNvPr id="20" name="Shape 15"/>
          <p:cNvSpPr/>
          <p:nvPr/>
        </p:nvSpPr>
        <p:spPr>
          <a:xfrm>
            <a:off x="6739128" y="2999232"/>
            <a:ext cx="566928" cy="566928"/>
          </a:xfrm>
          <a:prstGeom prst="ellipse">
            <a:avLst/>
          </a:prstGeom>
          <a:solidFill>
            <a:srgbClr val="132A4A"/>
          </a:solidFill>
          <a:ln/>
        </p:spPr>
      </p:sp>
      <p:pic>
        <p:nvPicPr>
          <p:cNvPr id="21" name="Image 3" descr="/home/claude/icons/netwo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6687" y="3126791"/>
            <a:ext cx="311810" cy="31181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52360" y="28620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Analysis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7452360" y="32004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modelling, centrality, and contingency analysis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3977640"/>
            <a:ext cx="5486400" cy="1170432"/>
          </a:xfrm>
          <a:prstGeom prst="roundRect">
            <a:avLst>
              <a:gd name="adj" fmla="val 6250"/>
            </a:avLst>
          </a:prstGeom>
          <a:solidFill>
            <a:srgbClr val="EAF0F7"/>
          </a:solidFill>
          <a:ln/>
        </p:spPr>
      </p:sp>
      <p:sp>
        <p:nvSpPr>
          <p:cNvPr id="25" name="Shape 19"/>
          <p:cNvSpPr/>
          <p:nvPr/>
        </p:nvSpPr>
        <p:spPr>
          <a:xfrm>
            <a:off x="749808" y="4279392"/>
            <a:ext cx="566928" cy="566928"/>
          </a:xfrm>
          <a:prstGeom prst="ellipse">
            <a:avLst/>
          </a:prstGeom>
          <a:solidFill>
            <a:srgbClr val="132A4A"/>
          </a:solidFill>
          <a:ln/>
        </p:spPr>
      </p:sp>
      <p:pic>
        <p:nvPicPr>
          <p:cNvPr id="26" name="Image 4" descr="/home/claude/icons/ma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367" y="4406951"/>
            <a:ext cx="311810" cy="31181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63040" y="41422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Geospatial Analysis</a:t>
            </a:r>
            <a:endParaRPr lang="en-US" sz="1450" dirty="0"/>
          </a:p>
        </p:txBody>
      </p:sp>
      <p:sp>
        <p:nvSpPr>
          <p:cNvPr id="28" name="Text 21"/>
          <p:cNvSpPr txBox="1"/>
          <p:nvPr/>
        </p:nvSpPr>
        <p:spPr>
          <a:xfrm>
            <a:off x="1463040" y="44805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density, distance, and coverage gaps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537960" y="3977640"/>
            <a:ext cx="5486400" cy="1170432"/>
          </a:xfrm>
          <a:prstGeom prst="roundRect">
            <a:avLst>
              <a:gd name="adj" fmla="val 6250"/>
            </a:avLst>
          </a:prstGeom>
          <a:solidFill>
            <a:srgbClr val="EAF0F7"/>
          </a:solidFill>
          <a:ln/>
        </p:spPr>
      </p:sp>
      <p:sp>
        <p:nvSpPr>
          <p:cNvPr id="30" name="Shape 23"/>
          <p:cNvSpPr/>
          <p:nvPr/>
        </p:nvSpPr>
        <p:spPr>
          <a:xfrm>
            <a:off x="6739128" y="4279392"/>
            <a:ext cx="566928" cy="566928"/>
          </a:xfrm>
          <a:prstGeom prst="ellipse">
            <a:avLst/>
          </a:prstGeom>
          <a:solidFill>
            <a:srgbClr val="132A4A"/>
          </a:solidFill>
          <a:ln/>
        </p:spPr>
      </p:sp>
      <p:pic>
        <p:nvPicPr>
          <p:cNvPr id="31" name="Image 5" descr="/home/claude/icons/cha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6687" y="4406951"/>
            <a:ext cx="311810" cy="31181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452360" y="41422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Intelligence</a:t>
            </a:r>
            <a:endParaRPr lang="en-US" sz="1450" dirty="0"/>
          </a:p>
        </p:txBody>
      </p:sp>
      <p:sp>
        <p:nvSpPr>
          <p:cNvPr id="33" name="Text 25"/>
          <p:cNvSpPr txBox="1"/>
          <p:nvPr/>
        </p:nvSpPr>
        <p:spPr>
          <a:xfrm>
            <a:off x="7452360" y="44805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proxies and strategic recommendations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548640" y="5257800"/>
            <a:ext cx="5486400" cy="1170432"/>
          </a:xfrm>
          <a:prstGeom prst="roundRect">
            <a:avLst>
              <a:gd name="adj" fmla="val 6250"/>
            </a:avLst>
          </a:prstGeom>
          <a:solidFill>
            <a:srgbClr val="EAF0F7"/>
          </a:solidFill>
          <a:ln/>
        </p:spPr>
      </p:sp>
      <p:sp>
        <p:nvSpPr>
          <p:cNvPr id="35" name="Shape 27"/>
          <p:cNvSpPr/>
          <p:nvPr/>
        </p:nvSpPr>
        <p:spPr>
          <a:xfrm>
            <a:off x="749808" y="5559552"/>
            <a:ext cx="566928" cy="566928"/>
          </a:xfrm>
          <a:prstGeom prst="ellipse">
            <a:avLst/>
          </a:prstGeom>
          <a:solidFill>
            <a:srgbClr val="132A4A"/>
          </a:solidFill>
          <a:ln/>
        </p:spPr>
      </p:sp>
      <p:pic>
        <p:nvPicPr>
          <p:cNvPr id="36" name="Image 6" descr="/home/claude/icons/presen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367" y="5687111"/>
            <a:ext cx="311810" cy="31181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463040" y="54223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&amp; Deliverables</a:t>
            </a:r>
            <a:endParaRPr lang="en-US" sz="1450" dirty="0"/>
          </a:p>
        </p:txBody>
      </p:sp>
      <p:sp>
        <p:nvSpPr>
          <p:cNvPr id="38" name="Text 29"/>
          <p:cNvSpPr txBox="1"/>
          <p:nvPr/>
        </p:nvSpPr>
        <p:spPr>
          <a:xfrm>
            <a:off x="1463040" y="57607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dashboard and project outputs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6537960" y="5257800"/>
            <a:ext cx="5486400" cy="1170432"/>
          </a:xfrm>
          <a:prstGeom prst="roundRect">
            <a:avLst>
              <a:gd name="adj" fmla="val 6250"/>
            </a:avLst>
          </a:prstGeom>
          <a:solidFill>
            <a:srgbClr val="EAF0F7"/>
          </a:solidFill>
          <a:ln/>
        </p:spPr>
      </p:sp>
      <p:sp>
        <p:nvSpPr>
          <p:cNvPr id="40" name="Shape 31"/>
          <p:cNvSpPr/>
          <p:nvPr/>
        </p:nvSpPr>
        <p:spPr>
          <a:xfrm>
            <a:off x="6739128" y="5559552"/>
            <a:ext cx="566928" cy="566928"/>
          </a:xfrm>
          <a:prstGeom prst="ellipse">
            <a:avLst/>
          </a:prstGeom>
          <a:solidFill>
            <a:srgbClr val="132A4A"/>
          </a:solidFill>
          <a:ln/>
        </p:spPr>
      </p:sp>
      <p:pic>
        <p:nvPicPr>
          <p:cNvPr id="41" name="Image 7" descr="/home/claude/icons/user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6687" y="5687111"/>
            <a:ext cx="311810" cy="31181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7452360" y="54223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Team, Timeline &amp; Next Steps</a:t>
            </a:r>
            <a:endParaRPr lang="en-US" sz="1450" dirty="0"/>
          </a:p>
        </p:txBody>
      </p:sp>
      <p:sp>
        <p:nvSpPr>
          <p:cNvPr id="43" name="Text 33"/>
          <p:cNvSpPr txBox="1"/>
          <p:nvPr/>
        </p:nvSpPr>
        <p:spPr>
          <a:xfrm>
            <a:off x="7452360" y="57607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schedule, and what's ahead</a:t>
            </a:r>
            <a:endParaRPr lang="en-US" sz="1050" dirty="0"/>
          </a:p>
        </p:txBody>
      </p:sp>
      <p:sp>
        <p:nvSpPr>
          <p:cNvPr id="44" name="Text 34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Electricity Grid Network Analysis  |  Task 3.3 Stakeholder Presentation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Electricity Is the Network Beneath Every Other Network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C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production, healthcare, education, transport, and finance all depend on a reliable electricity supply. We treat Ghana's grid as a transportation network for power: generation facilities, substations, and bulk supply points are nodes; transmission and distribution lines are the edges that connect them.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337560"/>
            <a:ext cx="82296" cy="777240"/>
          </a:xfrm>
          <a:prstGeom prst="roundRect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31012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weak link matters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59359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one key substation can split the network or cut off whole regions.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297680"/>
            <a:ext cx="82296" cy="777240"/>
          </a:xfrm>
          <a:prstGeom prst="roundRect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427024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 nodes are hubs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55371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substations act as regional bridges connecting otherwise separate clusters.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5257800"/>
            <a:ext cx="82296" cy="777240"/>
          </a:xfrm>
          <a:prstGeom prst="round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23036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drives priority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551383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position — not just age — should inform maintenance and investment priority.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1280160"/>
            <a:ext cx="4754880" cy="4846320"/>
          </a:xfrm>
          <a:prstGeom prst="roundRect">
            <a:avLst>
              <a:gd name="adj" fmla="val 1923"/>
            </a:avLst>
          </a:prstGeom>
          <a:solidFill>
            <a:srgbClr val="0C1D33"/>
          </a:solidFill>
          <a:ln/>
        </p:spPr>
      </p:sp>
      <p:sp>
        <p:nvSpPr>
          <p:cNvPr id="15" name="Shape 13"/>
          <p:cNvSpPr/>
          <p:nvPr/>
        </p:nvSpPr>
        <p:spPr>
          <a:xfrm>
            <a:off x="7717536" y="2139696"/>
            <a:ext cx="1892808" cy="-210312"/>
          </a:xfrm>
          <a:prstGeom prst="line">
            <a:avLst/>
          </a:prstGeom>
          <a:noFill/>
          <a:ln w="19050">
            <a:solidFill>
              <a:srgbClr val="3550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10344" y="1929384"/>
            <a:ext cx="1362456" cy="813816"/>
          </a:xfrm>
          <a:prstGeom prst="line">
            <a:avLst/>
          </a:prstGeom>
          <a:noFill/>
          <a:ln w="19050">
            <a:solidFill>
              <a:srgbClr val="3550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17536" y="2139696"/>
            <a:ext cx="-310896" cy="1243584"/>
          </a:xfrm>
          <a:prstGeom prst="line">
            <a:avLst/>
          </a:prstGeom>
          <a:noFill/>
          <a:ln w="19050">
            <a:solidFill>
              <a:srgbClr val="3550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06640" y="3383280"/>
            <a:ext cx="1517904" cy="329184"/>
          </a:xfrm>
          <a:prstGeom prst="line">
            <a:avLst/>
          </a:prstGeom>
          <a:noFill/>
          <a:ln w="19050">
            <a:solidFill>
              <a:srgbClr val="3550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24544" y="3712464"/>
            <a:ext cx="685800" cy="-1783080"/>
          </a:xfrm>
          <a:prstGeom prst="line">
            <a:avLst/>
          </a:prstGeom>
          <a:noFill/>
          <a:ln w="19050">
            <a:solidFill>
              <a:srgbClr val="3550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24544" y="3712464"/>
            <a:ext cx="1600200" cy="411480"/>
          </a:xfrm>
          <a:prstGeom prst="line">
            <a:avLst/>
          </a:prstGeom>
          <a:noFill/>
          <a:ln w="19050">
            <a:solidFill>
              <a:srgbClr val="3550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72800" y="2743200"/>
            <a:ext cx="-448056" cy="1380744"/>
          </a:xfrm>
          <a:prstGeom prst="line">
            <a:avLst/>
          </a:prstGeom>
          <a:noFill/>
          <a:ln w="19050">
            <a:solidFill>
              <a:srgbClr val="3550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06640" y="3383280"/>
            <a:ext cx="466344" cy="1380744"/>
          </a:xfrm>
          <a:prstGeom prst="line">
            <a:avLst/>
          </a:prstGeom>
          <a:noFill/>
          <a:ln w="19050">
            <a:solidFill>
              <a:srgbClr val="3550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24544" y="3712464"/>
            <a:ext cx="521208" cy="1435608"/>
          </a:xfrm>
          <a:prstGeom prst="line">
            <a:avLst/>
          </a:prstGeom>
          <a:noFill/>
          <a:ln w="19050">
            <a:solidFill>
              <a:srgbClr val="3550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45752" y="5148072"/>
            <a:ext cx="-1572768" cy="-384048"/>
          </a:xfrm>
          <a:prstGeom prst="line">
            <a:avLst/>
          </a:prstGeom>
          <a:noFill/>
          <a:ln w="19050">
            <a:solidFill>
              <a:srgbClr val="35507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24744" y="4123944"/>
            <a:ext cx="265176" cy="1271016"/>
          </a:xfrm>
          <a:prstGeom prst="line">
            <a:avLst/>
          </a:prstGeom>
          <a:noFill/>
          <a:ln w="19050">
            <a:solidFill>
              <a:srgbClr val="35507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45752" y="5148072"/>
            <a:ext cx="1344168" cy="246888"/>
          </a:xfrm>
          <a:prstGeom prst="line">
            <a:avLst/>
          </a:prstGeom>
          <a:noFill/>
          <a:ln w="19050">
            <a:solidFill>
              <a:srgbClr val="35507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72984" y="4764024"/>
            <a:ext cx="438912" cy="987552"/>
          </a:xfrm>
          <a:prstGeom prst="line">
            <a:avLst/>
          </a:prstGeom>
          <a:noFill/>
          <a:ln w="19050">
            <a:solidFill>
              <a:srgbClr val="3550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445752" y="5148072"/>
            <a:ext cx="-1133856" cy="603504"/>
          </a:xfrm>
          <a:prstGeom prst="line">
            <a:avLst/>
          </a:prstGeom>
          <a:noFill/>
          <a:ln w="19050">
            <a:solidFill>
              <a:srgbClr val="35507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0" y="2011680"/>
            <a:ext cx="256032" cy="256032"/>
          </a:xfrm>
          <a:prstGeom prst="ellipse">
            <a:avLst/>
          </a:prstGeom>
          <a:solidFill>
            <a:srgbClr val="E8A33D"/>
          </a:solidFill>
          <a:ln w="25400">
            <a:solidFill>
              <a:srgbClr val="0C1D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09760" y="1828800"/>
            <a:ext cx="201168" cy="201168"/>
          </a:xfrm>
          <a:prstGeom prst="ellipse">
            <a:avLst/>
          </a:prstGeom>
          <a:solidFill>
            <a:srgbClr val="1C9E8E"/>
          </a:solidFill>
          <a:ln w="25400">
            <a:solidFill>
              <a:srgbClr val="0C1D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881360" y="2651760"/>
            <a:ext cx="182880" cy="182880"/>
          </a:xfrm>
          <a:prstGeom prst="ellipse">
            <a:avLst/>
          </a:prstGeom>
          <a:solidFill>
            <a:srgbClr val="1C9E8E"/>
          </a:solidFill>
          <a:ln w="25400">
            <a:solidFill>
              <a:srgbClr val="0C1D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0" y="3291840"/>
            <a:ext cx="182880" cy="182880"/>
          </a:xfrm>
          <a:prstGeom prst="ellipse">
            <a:avLst/>
          </a:prstGeom>
          <a:solidFill>
            <a:srgbClr val="1C9E8E"/>
          </a:solidFill>
          <a:ln w="25400">
            <a:solidFill>
              <a:srgbClr val="0C1D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78240" y="3566160"/>
            <a:ext cx="292608" cy="292608"/>
          </a:xfrm>
          <a:prstGeom prst="ellipse">
            <a:avLst/>
          </a:prstGeom>
          <a:solidFill>
            <a:srgbClr val="E8A33D"/>
          </a:solidFill>
          <a:ln w="25400">
            <a:solidFill>
              <a:srgbClr val="0C1D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424160" y="4023360"/>
            <a:ext cx="201168" cy="201168"/>
          </a:xfrm>
          <a:prstGeom prst="ellipse">
            <a:avLst/>
          </a:prstGeom>
          <a:solidFill>
            <a:srgbClr val="1C9E8E"/>
          </a:solidFill>
          <a:ln w="25400">
            <a:solidFill>
              <a:srgbClr val="0C1D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72400" y="4663440"/>
            <a:ext cx="201168" cy="201168"/>
          </a:xfrm>
          <a:prstGeom prst="ellipse">
            <a:avLst/>
          </a:prstGeom>
          <a:solidFill>
            <a:srgbClr val="1C9E8E"/>
          </a:solidFill>
          <a:ln w="25400">
            <a:solidFill>
              <a:srgbClr val="0C1D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326880" y="5029200"/>
            <a:ext cx="237744" cy="237744"/>
          </a:xfrm>
          <a:prstGeom prst="ellipse">
            <a:avLst/>
          </a:prstGeom>
          <a:solidFill>
            <a:srgbClr val="E8A33D"/>
          </a:solidFill>
          <a:ln w="25400">
            <a:solidFill>
              <a:srgbClr val="0C1D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698480" y="5303520"/>
            <a:ext cx="182880" cy="182880"/>
          </a:xfrm>
          <a:prstGeom prst="ellipse">
            <a:avLst/>
          </a:prstGeom>
          <a:solidFill>
            <a:srgbClr val="1C9E8E"/>
          </a:solidFill>
          <a:ln w="25400">
            <a:solidFill>
              <a:srgbClr val="0C1D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29600" y="5669280"/>
            <a:ext cx="164592" cy="164592"/>
          </a:xfrm>
          <a:prstGeom prst="ellipse">
            <a:avLst/>
          </a:prstGeom>
          <a:solidFill>
            <a:srgbClr val="1C9E8E"/>
          </a:solidFill>
          <a:ln w="25400">
            <a:solidFill>
              <a:srgbClr val="0C1D3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178040" y="57607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Substations = nodes  ·  Lines = edges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Electricity Grid Network Analysis  |  Task 3.3 Stakeholder Presentation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of Three Interrelated Project Components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project pairs data science with software engineering. Our team's focus for this presentation is Component 1 — the analytical foundation that also informs GridCare-Lite, the outage and maintenance system.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132A4A"/>
          </a:solidFill>
          <a:ln/>
        </p:spPr>
      </p:sp>
      <p:sp>
        <p:nvSpPr>
          <p:cNvPr id="6" name="Shape 4"/>
          <p:cNvSpPr/>
          <p:nvPr/>
        </p:nvSpPr>
        <p:spPr>
          <a:xfrm>
            <a:off x="1943100" y="2377440"/>
            <a:ext cx="822960" cy="8229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7" name="Image 0" descr="/home/claude/icons/netwi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8266" y="2562606"/>
            <a:ext cx="452628" cy="45262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34290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Grid Network Analysis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931920"/>
            <a:ext cx="3063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science, graph modelling, geospatial and BI analysis of national grid infrastructure.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1531620" y="5440680"/>
            <a:ext cx="1645920" cy="320040"/>
          </a:xfrm>
          <a:prstGeom prst="roundRect">
            <a:avLst>
              <a:gd name="adj" fmla="val 51429"/>
            </a:avLst>
          </a:prstGeom>
          <a:solidFill>
            <a:srgbClr val="E8A33D"/>
          </a:solidFill>
          <a:ln/>
        </p:spPr>
      </p:sp>
      <p:sp>
        <p:nvSpPr>
          <p:cNvPr id="11" name="Text 8"/>
          <p:cNvSpPr/>
          <p:nvPr/>
        </p:nvSpPr>
        <p:spPr>
          <a:xfrm>
            <a:off x="1531620" y="5440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FOCUS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389120" y="201168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83580" y="2377440"/>
            <a:ext cx="822960" cy="822960"/>
          </a:xfrm>
          <a:prstGeom prst="ellipse">
            <a:avLst/>
          </a:prstGeom>
          <a:solidFill>
            <a:srgbClr val="EAF0F7"/>
          </a:solidFill>
          <a:ln/>
        </p:spPr>
      </p:sp>
      <p:pic>
        <p:nvPicPr>
          <p:cNvPr id="14" name="Image 1" descr="/home/claude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58318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617720" y="34290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GridCare-Lite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4663440" y="3931920"/>
            <a:ext cx="3063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 &amp; maintenance management system — fault reporting, work orders, technician workflows.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229600" y="201168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624060" y="2377440"/>
            <a:ext cx="822960" cy="822960"/>
          </a:xfrm>
          <a:prstGeom prst="ellipse">
            <a:avLst/>
          </a:prstGeom>
          <a:solidFill>
            <a:srgbClr val="EAF0F7"/>
          </a:solidFill>
          <a:ln/>
        </p:spPr>
      </p:sp>
      <p:pic>
        <p:nvPicPr>
          <p:cNvPr id="19" name="Image 2" descr="/home/claude/icons/handshak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258318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458200" y="34290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ClinicCare-Lite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8503920" y="3931920"/>
            <a:ext cx="3063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clinic administration system — tasks, appointments, messaging, and analytics.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Electricity Grid Network Analysis  |  Task 3.3 Stakeholder Presentation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Component Is Designed to Teach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11880" cy="4480560"/>
          </a:xfrm>
          <a:prstGeom prst="roundRect">
            <a:avLst>
              <a:gd name="adj" fmla="val 2532"/>
            </a:avLst>
          </a:prstGeom>
          <a:solidFill>
            <a:srgbClr val="EAF0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rgbClr val="132A4A"/>
          </a:solidFill>
          <a:ln/>
        </p:spPr>
      </p:sp>
      <p:pic>
        <p:nvPicPr>
          <p:cNvPr id="6" name="Image 0" descr="/home/claude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978" y="1835658"/>
            <a:ext cx="352044" cy="3520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4688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Skills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41248" y="3044952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51560" y="291693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C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validation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41248" y="3703320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51560" y="357530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C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modelling with NetworkX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41248" y="4361688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51560" y="42336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C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analysis &amp; mapping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41248" y="5020056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051560" y="4892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C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development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389120" y="1417320"/>
            <a:ext cx="3611880" cy="4480560"/>
          </a:xfrm>
          <a:prstGeom prst="roundRect">
            <a:avLst>
              <a:gd name="adj" fmla="val 2532"/>
            </a:avLst>
          </a:prstGeom>
          <a:solidFill>
            <a:srgbClr val="EAF0F7"/>
          </a:solidFill>
          <a:ln/>
        </p:spPr>
      </p:sp>
      <p:sp>
        <p:nvSpPr>
          <p:cNvPr id="17" name="Shape 14"/>
          <p:cNvSpPr/>
          <p:nvPr/>
        </p:nvSpPr>
        <p:spPr>
          <a:xfrm>
            <a:off x="4663440" y="1691640"/>
            <a:ext cx="640080" cy="640080"/>
          </a:xfrm>
          <a:prstGeom prst="ellipse">
            <a:avLst/>
          </a:prstGeom>
          <a:solidFill>
            <a:srgbClr val="132A4A"/>
          </a:solidFill>
          <a:ln/>
        </p:spPr>
      </p:sp>
      <p:pic>
        <p:nvPicPr>
          <p:cNvPr id="18" name="Image 1" descr="/home/claude/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458" y="1835658"/>
            <a:ext cx="352044" cy="35204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663440" y="24688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Analytical Skills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4681728" y="3044952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892040" y="291693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C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4681728" y="3703320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4892040" y="357530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C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centrality metrics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4681728" y="4361688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4892040" y="42336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C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Business-intelligence framing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4681728" y="5020056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4892040" y="4892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C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recommendations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8229600" y="1417320"/>
            <a:ext cx="3611880" cy="4480560"/>
          </a:xfrm>
          <a:prstGeom prst="roundRect">
            <a:avLst>
              <a:gd name="adj" fmla="val 2532"/>
            </a:avLst>
          </a:prstGeom>
          <a:solidFill>
            <a:srgbClr val="EAF0F7"/>
          </a:solidFill>
          <a:ln/>
        </p:spPr>
      </p:sp>
      <p:sp>
        <p:nvSpPr>
          <p:cNvPr id="29" name="Shape 25"/>
          <p:cNvSpPr/>
          <p:nvPr/>
        </p:nvSpPr>
        <p:spPr>
          <a:xfrm>
            <a:off x="8503920" y="1691640"/>
            <a:ext cx="640080" cy="640080"/>
          </a:xfrm>
          <a:prstGeom prst="ellipse">
            <a:avLst/>
          </a:prstGeom>
          <a:solidFill>
            <a:srgbClr val="132A4A"/>
          </a:solidFill>
          <a:ln/>
        </p:spPr>
      </p:sp>
      <p:pic>
        <p:nvPicPr>
          <p:cNvPr id="30" name="Image 2" descr="/home/claude/icons/pres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7938" y="1835658"/>
            <a:ext cx="352044" cy="352044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8503920" y="24688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 Skills</a:t>
            </a:r>
            <a:endParaRPr lang="en-US" sz="1500" dirty="0"/>
          </a:p>
        </p:txBody>
      </p:sp>
      <p:sp>
        <p:nvSpPr>
          <p:cNvPr id="32" name="Shape 27"/>
          <p:cNvSpPr/>
          <p:nvPr/>
        </p:nvSpPr>
        <p:spPr>
          <a:xfrm>
            <a:off x="8522208" y="3044952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8732520" y="291693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C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documentation</a:t>
            </a:r>
            <a:endParaRPr lang="en-US" sz="1150" dirty="0"/>
          </a:p>
        </p:txBody>
      </p:sp>
      <p:sp>
        <p:nvSpPr>
          <p:cNvPr id="34" name="Shape 29"/>
          <p:cNvSpPr/>
          <p:nvPr/>
        </p:nvSpPr>
        <p:spPr>
          <a:xfrm>
            <a:off x="8522208" y="3703320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8732520" y="357530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C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presentation</a:t>
            </a:r>
            <a:endParaRPr lang="en-US" sz="1150" dirty="0"/>
          </a:p>
        </p:txBody>
      </p:sp>
      <p:sp>
        <p:nvSpPr>
          <p:cNvPr id="36" name="Shape 31"/>
          <p:cNvSpPr/>
          <p:nvPr/>
        </p:nvSpPr>
        <p:spPr>
          <a:xfrm>
            <a:off x="8522208" y="4361688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8732520" y="42336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C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storytelling</a:t>
            </a:r>
            <a:endParaRPr lang="en-US" sz="1150" dirty="0"/>
          </a:p>
        </p:txBody>
      </p:sp>
      <p:sp>
        <p:nvSpPr>
          <p:cNvPr id="38" name="Shape 33"/>
          <p:cNvSpPr/>
          <p:nvPr/>
        </p:nvSpPr>
        <p:spPr>
          <a:xfrm>
            <a:off x="8522208" y="5020056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8732520" y="4892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C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</a:t>
            </a:r>
            <a:endParaRPr lang="en-US" sz="1150" dirty="0"/>
          </a:p>
        </p:txBody>
      </p:sp>
      <p:sp>
        <p:nvSpPr>
          <p:cNvPr id="40" name="Text 3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Electricity Grid Network Analysis  |  Task 3.3 Stakeholder Presentation</a:t>
            </a:r>
            <a:endParaRPr lang="en-US" sz="900" dirty="0"/>
          </a:p>
        </p:txBody>
      </p:sp>
      <p:sp>
        <p:nvSpPr>
          <p:cNvPr id="41" name="Text 3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Linked Tables Model the National Grid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and structure are inspired by ECG, NEDCo, GRIDCo, VRA, and the West African Power Pool. Coordinates, capacities, and connections are synthetic — built for reproducible academic analysis, not as verified records of Ghana's actual infrastructure.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611880" cy="3749040"/>
          </a:xfrm>
          <a:prstGeom prst="roundRect">
            <a:avLst>
              <a:gd name="adj" fmla="val 2532"/>
            </a:avLst>
          </a:prstGeom>
          <a:solidFill>
            <a:srgbClr val="1B3A5F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77440"/>
            <a:ext cx="594360" cy="5943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7" name="Image 0" descr="/home/claude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526030"/>
            <a:ext cx="297180" cy="2971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24231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utilities.csv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1546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utility companies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657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Utility name &amp; type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114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Service region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572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Ownership category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89120" y="2103120"/>
            <a:ext cx="3611880" cy="3749040"/>
          </a:xfrm>
          <a:prstGeom prst="roundRect">
            <a:avLst>
              <a:gd name="adj" fmla="val 2532"/>
            </a:avLst>
          </a:prstGeom>
          <a:solidFill>
            <a:srgbClr val="1B3A5F"/>
          </a:solidFill>
          <a:ln/>
        </p:spPr>
      </p:sp>
      <p:sp>
        <p:nvSpPr>
          <p:cNvPr id="14" name="Shape 11"/>
          <p:cNvSpPr/>
          <p:nvPr/>
        </p:nvSpPr>
        <p:spPr>
          <a:xfrm>
            <a:off x="4663440" y="2377440"/>
            <a:ext cx="594360" cy="5943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5" name="Image 1" descr="/home/claude/icons/netwi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030" y="2526030"/>
            <a:ext cx="297180" cy="29718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394960" y="24231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substations.csv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4663440" y="31546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Substation asset register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4663440" y="3657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Location &amp; coordinates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4663440" y="4114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Voltage level &amp; capacity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4663440" y="4572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Commissioning year, status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8229600" y="2103120"/>
            <a:ext cx="3611880" cy="3749040"/>
          </a:xfrm>
          <a:prstGeom prst="roundRect">
            <a:avLst>
              <a:gd name="adj" fmla="val 2532"/>
            </a:avLst>
          </a:prstGeom>
          <a:solidFill>
            <a:srgbClr val="1B3A5F"/>
          </a:solidFill>
          <a:ln/>
        </p:spPr>
      </p:sp>
      <p:sp>
        <p:nvSpPr>
          <p:cNvPr id="22" name="Shape 18"/>
          <p:cNvSpPr/>
          <p:nvPr/>
        </p:nvSpPr>
        <p:spPr>
          <a:xfrm>
            <a:off x="8503920" y="2377440"/>
            <a:ext cx="594360" cy="5943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3" name="Image 2" descr="/home/claude/icons/netwo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2510" y="2526030"/>
            <a:ext cx="297180" cy="29718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9235440" y="24231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lines.csv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8503920" y="31546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&amp; distribution lines</a:t>
            </a:r>
            <a:endParaRPr lang="en-US" sz="1150" dirty="0"/>
          </a:p>
        </p:txBody>
      </p:sp>
      <p:sp>
        <p:nvSpPr>
          <p:cNvPr id="26" name="Text 21"/>
          <p:cNvSpPr txBox="1"/>
          <p:nvPr/>
        </p:nvSpPr>
        <p:spPr>
          <a:xfrm>
            <a:off x="8503920" y="3657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Source → destination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8503920" y="4114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Line length &amp; type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8503920" y="4572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Operational status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Electricity Grid Network Analysis  |  Task 3.3 Stakeholder Presentation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· STEP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Cleaning, Validation &amp; Integration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EAF0F7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647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2377440"/>
            <a:ext cx="685800" cy="685800"/>
          </a:xfrm>
          <a:prstGeom prst="ellipse">
            <a:avLst/>
          </a:prstGeom>
          <a:solidFill>
            <a:srgbClr val="132A4A"/>
          </a:solidFill>
          <a:ln/>
        </p:spPr>
      </p:sp>
      <p:pic>
        <p:nvPicPr>
          <p:cNvPr id="7" name="Image 0" descr="/home/claude/icons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3065" y="2531745"/>
            <a:ext cx="377190" cy="3771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32918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65760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data types, ranges, and table structure across all three files.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10712" y="16002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93592" y="17647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370832" y="2377440"/>
            <a:ext cx="685800" cy="685800"/>
          </a:xfrm>
          <a:prstGeom prst="ellipse">
            <a:avLst/>
          </a:prstGeom>
          <a:solidFill>
            <a:srgbClr val="132A4A"/>
          </a:solidFill>
          <a:ln/>
        </p:spPr>
      </p:sp>
      <p:pic>
        <p:nvPicPr>
          <p:cNvPr id="13" name="Image 1" descr="/home/claude/icons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5137" y="2531745"/>
            <a:ext cx="377190" cy="37719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93592" y="32918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639312" y="365760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missing values, duplicate records, invalid coordinates, and inconsistent labels.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72784" y="16002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EAF0F7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455664" y="17647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7232904" y="2377440"/>
            <a:ext cx="685800" cy="685800"/>
          </a:xfrm>
          <a:prstGeom prst="ellipse">
            <a:avLst/>
          </a:prstGeom>
          <a:solidFill>
            <a:srgbClr val="132A4A"/>
          </a:solidFill>
          <a:ln/>
        </p:spPr>
      </p:sp>
      <p:pic>
        <p:nvPicPr>
          <p:cNvPr id="19" name="Image 2" descr="/home/claude/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7209" y="2531745"/>
            <a:ext cx="377190" cy="37719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55664" y="32918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Reconcile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501384" y="365760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broken relationships between utilities, substations, and lines.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9134856" y="16002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9317736" y="17647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Shape 19"/>
          <p:cNvSpPr/>
          <p:nvPr/>
        </p:nvSpPr>
        <p:spPr>
          <a:xfrm>
            <a:off x="10094976" y="2377440"/>
            <a:ext cx="685800" cy="685800"/>
          </a:xfrm>
          <a:prstGeom prst="ellipse">
            <a:avLst/>
          </a:prstGeom>
          <a:solidFill>
            <a:srgbClr val="132A4A"/>
          </a:solidFill>
          <a:ln/>
        </p:spPr>
      </p:sp>
      <p:pic>
        <p:nvPicPr>
          <p:cNvPr id="25" name="Image 3" descr="/home/claude/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9281" y="2531745"/>
            <a:ext cx="377190" cy="37719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317736" y="32918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9363456" y="365760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tables on shared identifiers and document the effect of every merge.</a:t>
            </a:r>
            <a:endParaRPr lang="en-US" sz="105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where synthetic data is largely clean, the process demonstrates how real-world asset registers must be audited before analysis.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Electricity Grid Network Analysis  |  Task 3.3 Stakeholder Presentation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· STEP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— Guiding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636776"/>
            <a:ext cx="365760" cy="365760"/>
          </a:xfrm>
          <a:prstGeom prst="ellipse">
            <a:avLst/>
          </a:prstGeom>
          <a:solidFill>
            <a:srgbClr val="132A4A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6367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36192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C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regions have the greatest number of substations?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2505456"/>
            <a:ext cx="365760" cy="365760"/>
          </a:xfrm>
          <a:prstGeom prst="ellipse">
            <a:avLst/>
          </a:prstGeom>
          <a:solidFill>
            <a:srgbClr val="132A4A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5054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404872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C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voltage levels are most common nationally?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" y="3374136"/>
            <a:ext cx="365760" cy="365760"/>
          </a:xfrm>
          <a:prstGeom prst="ellipse">
            <a:avLst/>
          </a:prstGeom>
          <a:solidFill>
            <a:srgbClr val="13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3741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273552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C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utility operates the greatest number of lines?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4242816"/>
            <a:ext cx="365760" cy="365760"/>
          </a:xfrm>
          <a:prstGeom prst="ellipse">
            <a:avLst/>
          </a:prstGeom>
          <a:solidFill>
            <a:srgbClr val="13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42428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142232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C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distribution of substation capacities?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146304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428232" y="1636776"/>
            <a:ext cx="365760" cy="365760"/>
          </a:xfrm>
          <a:prstGeom prst="ellipse">
            <a:avLst/>
          </a:prstGeom>
          <a:solidFill>
            <a:srgbClr val="13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6428232" y="16367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1536192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C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regions contain the oldest infrastructure?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233172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428232" y="2505456"/>
            <a:ext cx="365760" cy="365760"/>
          </a:xfrm>
          <a:prstGeom prst="ellipse">
            <a:avLst/>
          </a:prstGeom>
          <a:solidFill>
            <a:srgbClr val="13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6428232" y="25054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2404872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C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proportion of lines are active vs. under maintenance?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63640" y="320040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428232" y="3374136"/>
            <a:ext cx="365760" cy="365760"/>
          </a:xfrm>
          <a:prstGeom prst="ellipse">
            <a:avLst/>
          </a:prstGeom>
          <a:solidFill>
            <a:srgbClr val="132A4A"/>
          </a:solidFill>
          <a:ln/>
        </p:spPr>
      </p:sp>
      <p:sp>
        <p:nvSpPr>
          <p:cNvPr id="30" name="Text 28"/>
          <p:cNvSpPr/>
          <p:nvPr/>
        </p:nvSpPr>
        <p:spPr>
          <a:xfrm>
            <a:off x="6428232" y="33741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949440" y="3273552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C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substations have the greatest number of connections?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63640" y="406908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6428232" y="4242816"/>
            <a:ext cx="365760" cy="365760"/>
          </a:xfrm>
          <a:prstGeom prst="ellipse">
            <a:avLst/>
          </a:prstGeom>
          <a:solidFill>
            <a:srgbClr val="132A4A"/>
          </a:solidFill>
          <a:ln/>
        </p:spPr>
      </p:sp>
      <p:sp>
        <p:nvSpPr>
          <p:cNvPr id="34" name="Text 32"/>
          <p:cNvSpPr/>
          <p:nvPr/>
        </p:nvSpPr>
        <p:spPr>
          <a:xfrm>
            <a:off x="6428232" y="42428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949440" y="4142232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C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high-capacity substations distributed geographically?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Electricity Grid Network Analysis  |  Task 3.3 Stakeholder Presentation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· STEP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EDA Findings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FFF4E0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1732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your team's actual chart(s) and headline numbers here once EDA is complete (e.g., regional substation counts, voltage-level mix, capacity distribution).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13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4231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[N]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1546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Substations Analysed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10712" y="21945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13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10712" y="24231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[N]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3547872" y="31546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Covered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72784" y="21945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132A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72784" y="24231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[N]%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409944" y="31546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Lines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34856" y="21945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132A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34856" y="24231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[N]%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9272016" y="31546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Maintenance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977640"/>
            <a:ext cx="11064240" cy="1965960"/>
          </a:xfrm>
          <a:prstGeom prst="rect">
            <a:avLst/>
          </a:prstGeom>
          <a:solidFill>
            <a:srgbClr val="EAF0F7"/>
          </a:solidFill>
          <a:ln w="12700">
            <a:solidFill>
              <a:srgbClr val="D7E0E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chart area — regional substation distribution / voltage-level mix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Electricity Grid Network Analysis  |  Task 3.3 Stakeholder Presentation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· STEP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Modelling the Grid as a Graph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NetworkX, we represent the grid as an undirected graph — power can flow either way along a line depending on system conditions.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554480" cy="548640"/>
          </a:xfrm>
          <a:prstGeom prst="roundRect">
            <a:avLst>
              <a:gd name="adj" fmla="val 50000"/>
            </a:avLst>
          </a:prstGeom>
          <a:solidFill>
            <a:srgbClr val="1C9E8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860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22860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3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Substations — carrying region, voltage, coordinates, and capacity as attributes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1554480" cy="548640"/>
          </a:xfrm>
          <a:prstGeom prst="roundRect">
            <a:avLst>
              <a:gd name="adj" fmla="val 50000"/>
            </a:avLst>
          </a:prstGeom>
          <a:solidFill>
            <a:srgbClr val="1C9E8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0632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30632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3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&amp; distribution lines — weighted by length and capacity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1554480" cy="548640"/>
          </a:xfrm>
          <a:prstGeom prst="roundRect">
            <a:avLst>
              <a:gd name="adj" fmla="val 50000"/>
            </a:avLst>
          </a:prstGeom>
          <a:solidFill>
            <a:srgbClr val="1C9E8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8404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type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286000" y="38404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3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Undirected graph (bidirectional AC power flow)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903720" y="1280160"/>
            <a:ext cx="4754880" cy="4846320"/>
          </a:xfrm>
          <a:prstGeom prst="roundRect">
            <a:avLst>
              <a:gd name="adj" fmla="val 1923"/>
            </a:avLst>
          </a:prstGeom>
          <a:solidFill>
            <a:srgbClr val="1B3A5F"/>
          </a:solidFill>
          <a:ln/>
        </p:spPr>
      </p:sp>
      <p:sp>
        <p:nvSpPr>
          <p:cNvPr id="15" name="Shape 13"/>
          <p:cNvSpPr/>
          <p:nvPr/>
        </p:nvSpPr>
        <p:spPr>
          <a:xfrm>
            <a:off x="7726680" y="2148840"/>
            <a:ext cx="1892808" cy="-210312"/>
          </a:xfrm>
          <a:prstGeom prst="line">
            <a:avLst/>
          </a:prstGeom>
          <a:noFill/>
          <a:ln w="22860">
            <a:solidFill>
              <a:srgbClr val="3A557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19488" y="1938528"/>
            <a:ext cx="1362456" cy="813816"/>
          </a:xfrm>
          <a:prstGeom prst="line">
            <a:avLst/>
          </a:prstGeom>
          <a:noFill/>
          <a:ln w="22860">
            <a:solidFill>
              <a:srgbClr val="3A557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26680" y="2148840"/>
            <a:ext cx="-310896" cy="1243584"/>
          </a:xfrm>
          <a:prstGeom prst="line">
            <a:avLst/>
          </a:prstGeom>
          <a:noFill/>
          <a:ln w="22860">
            <a:solidFill>
              <a:srgbClr val="3A557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15784" y="3392424"/>
            <a:ext cx="1527048" cy="338328"/>
          </a:xfrm>
          <a:prstGeom prst="line">
            <a:avLst/>
          </a:prstGeom>
          <a:noFill/>
          <a:ln w="22860">
            <a:solidFill>
              <a:srgbClr val="3A557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42832" y="3730752"/>
            <a:ext cx="676656" cy="-1792224"/>
          </a:xfrm>
          <a:prstGeom prst="line">
            <a:avLst/>
          </a:prstGeom>
          <a:noFill/>
          <a:ln w="22860">
            <a:solidFill>
              <a:srgbClr val="3A557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42832" y="3730752"/>
            <a:ext cx="1591056" cy="402336"/>
          </a:xfrm>
          <a:prstGeom prst="line">
            <a:avLst/>
          </a:prstGeom>
          <a:noFill/>
          <a:ln w="22860">
            <a:solidFill>
              <a:srgbClr val="3A557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81944" y="2752344"/>
            <a:ext cx="-448056" cy="1380744"/>
          </a:xfrm>
          <a:prstGeom prst="line">
            <a:avLst/>
          </a:prstGeom>
          <a:noFill/>
          <a:ln w="22860">
            <a:solidFill>
              <a:srgbClr val="3A557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15784" y="3392424"/>
            <a:ext cx="466344" cy="1380744"/>
          </a:xfrm>
          <a:prstGeom prst="line">
            <a:avLst/>
          </a:prstGeom>
          <a:noFill/>
          <a:ln w="22860">
            <a:solidFill>
              <a:srgbClr val="3A557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42832" y="3730752"/>
            <a:ext cx="512064" cy="1426464"/>
          </a:xfrm>
          <a:prstGeom prst="line">
            <a:avLst/>
          </a:prstGeom>
          <a:noFill/>
          <a:ln w="22860">
            <a:solidFill>
              <a:srgbClr val="3A55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54896" y="5157216"/>
            <a:ext cx="-1572768" cy="-384048"/>
          </a:xfrm>
          <a:prstGeom prst="line">
            <a:avLst/>
          </a:prstGeom>
          <a:noFill/>
          <a:ln w="22860">
            <a:solidFill>
              <a:srgbClr val="3A557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33888" y="4133088"/>
            <a:ext cx="265176" cy="1271016"/>
          </a:xfrm>
          <a:prstGeom prst="line">
            <a:avLst/>
          </a:prstGeom>
          <a:noFill/>
          <a:ln w="22860">
            <a:solidFill>
              <a:srgbClr val="3A557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54896" y="5157216"/>
            <a:ext cx="1344168" cy="246888"/>
          </a:xfrm>
          <a:prstGeom prst="line">
            <a:avLst/>
          </a:prstGeom>
          <a:noFill/>
          <a:ln w="22860">
            <a:solidFill>
              <a:srgbClr val="3A557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89520" y="2011680"/>
            <a:ext cx="274320" cy="274320"/>
          </a:xfrm>
          <a:prstGeom prst="ellipse">
            <a:avLst/>
          </a:prstGeom>
          <a:solidFill>
            <a:srgbClr val="E8A33D"/>
          </a:solidFill>
          <a:ln w="25400">
            <a:solidFill>
              <a:srgbClr val="0C1D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09760" y="1828800"/>
            <a:ext cx="219456" cy="219456"/>
          </a:xfrm>
          <a:prstGeom prst="ellipse">
            <a:avLst/>
          </a:prstGeom>
          <a:solidFill>
            <a:srgbClr val="1C9E8E"/>
          </a:solidFill>
          <a:ln w="25400">
            <a:solidFill>
              <a:srgbClr val="0C1D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881360" y="2651760"/>
            <a:ext cx="201168" cy="201168"/>
          </a:xfrm>
          <a:prstGeom prst="ellipse">
            <a:avLst/>
          </a:prstGeom>
          <a:solidFill>
            <a:srgbClr val="1C9E8E"/>
          </a:solidFill>
          <a:ln w="25400">
            <a:solidFill>
              <a:srgbClr val="0C1D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0" y="3291840"/>
            <a:ext cx="201168" cy="201168"/>
          </a:xfrm>
          <a:prstGeom prst="ellipse">
            <a:avLst/>
          </a:prstGeom>
          <a:solidFill>
            <a:srgbClr val="1C9E8E"/>
          </a:solidFill>
          <a:ln w="25400">
            <a:solidFill>
              <a:srgbClr val="0C1D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78240" y="3566160"/>
            <a:ext cx="329184" cy="329184"/>
          </a:xfrm>
          <a:prstGeom prst="ellipse">
            <a:avLst/>
          </a:prstGeom>
          <a:solidFill>
            <a:srgbClr val="E8A33D"/>
          </a:solidFill>
          <a:ln w="25400">
            <a:solidFill>
              <a:srgbClr val="0C1D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424160" y="4023360"/>
            <a:ext cx="219456" cy="219456"/>
          </a:xfrm>
          <a:prstGeom prst="ellipse">
            <a:avLst/>
          </a:prstGeom>
          <a:solidFill>
            <a:srgbClr val="1C9E8E"/>
          </a:solidFill>
          <a:ln w="25400">
            <a:solidFill>
              <a:srgbClr val="0C1D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72400" y="4663440"/>
            <a:ext cx="219456" cy="219456"/>
          </a:xfrm>
          <a:prstGeom prst="ellipse">
            <a:avLst/>
          </a:prstGeom>
          <a:solidFill>
            <a:srgbClr val="1C9E8E"/>
          </a:solidFill>
          <a:ln w="25400">
            <a:solidFill>
              <a:srgbClr val="0C1D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326880" y="5029200"/>
            <a:ext cx="256032" cy="256032"/>
          </a:xfrm>
          <a:prstGeom prst="ellipse">
            <a:avLst/>
          </a:prstGeom>
          <a:solidFill>
            <a:srgbClr val="E8A33D"/>
          </a:solidFill>
          <a:ln w="25400">
            <a:solidFill>
              <a:srgbClr val="0C1D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698480" y="5303520"/>
            <a:ext cx="201168" cy="201168"/>
          </a:xfrm>
          <a:prstGeom prst="ellipse">
            <a:avLst/>
          </a:prstGeom>
          <a:solidFill>
            <a:srgbClr val="1C9E8E"/>
          </a:solidFill>
          <a:ln w="25400">
            <a:solidFill>
              <a:srgbClr val="0C1D3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178040" y="57607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nodes = higher-degree “hub” substations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Electricity Grid Network Analysis  |  Task 3.3 Stakeholder Presentation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· STEP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Metrics We Calculate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132A4A"/>
          </a:solidFill>
          <a:ln/>
        </p:spPr>
      </p:sp>
      <p:pic>
        <p:nvPicPr>
          <p:cNvPr id="6" name="Image 0" descr="/home/claude/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965" y="1713357"/>
            <a:ext cx="276606" cy="27660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49808" y="219456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Centrality Measures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450592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Degree, betweenness, closeness, and PageRank identify the most structurally important substations.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89120" y="141732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/>
        </p:spPr>
      </p:sp>
      <p:sp>
        <p:nvSpPr>
          <p:cNvPr id="10" name="Shape 7"/>
          <p:cNvSpPr/>
          <p:nvPr/>
        </p:nvSpPr>
        <p:spPr>
          <a:xfrm>
            <a:off x="4590288" y="1600200"/>
            <a:ext cx="502920" cy="502920"/>
          </a:xfrm>
          <a:prstGeom prst="ellipse">
            <a:avLst/>
          </a:prstGeom>
          <a:solidFill>
            <a:srgbClr val="132A4A"/>
          </a:solidFill>
          <a:ln/>
        </p:spPr>
      </p:sp>
      <p:pic>
        <p:nvPicPr>
          <p:cNvPr id="11" name="Image 1" descr="/home/claude/icons/netwi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445" y="1713357"/>
            <a:ext cx="276606" cy="27660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90288" y="219456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Diameter &amp; Path Length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590288" y="2450592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apart the two most distant substations are, and typical path length across the grid.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229600" y="141732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/>
        </p:spPr>
      </p:sp>
      <p:sp>
        <p:nvSpPr>
          <p:cNvPr id="15" name="Shape 11"/>
          <p:cNvSpPr/>
          <p:nvPr/>
        </p:nvSpPr>
        <p:spPr>
          <a:xfrm>
            <a:off x="8430768" y="1600200"/>
            <a:ext cx="502920" cy="502920"/>
          </a:xfrm>
          <a:prstGeom prst="ellipse">
            <a:avLst/>
          </a:prstGeom>
          <a:solidFill>
            <a:srgbClr val="132A4A"/>
          </a:solidFill>
          <a:ln/>
        </p:spPr>
      </p:sp>
      <p:pic>
        <p:nvPicPr>
          <p:cNvPr id="16" name="Image 2" descr="/home/claude/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3925" y="1713357"/>
            <a:ext cx="276606" cy="27660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30768" y="219456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 Coefficient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8430768" y="2450592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tightly interconnected a substation's neighbours are with each other.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48640" y="310896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/>
        </p:spPr>
      </p:sp>
      <p:sp>
        <p:nvSpPr>
          <p:cNvPr id="20" name="Shape 15"/>
          <p:cNvSpPr/>
          <p:nvPr/>
        </p:nvSpPr>
        <p:spPr>
          <a:xfrm>
            <a:off x="749808" y="3291840"/>
            <a:ext cx="502920" cy="502920"/>
          </a:xfrm>
          <a:prstGeom prst="ellipse">
            <a:avLst/>
          </a:prstGeom>
          <a:solidFill>
            <a:srgbClr val="132A4A"/>
          </a:solidFill>
          <a:ln/>
        </p:spPr>
      </p:sp>
      <p:pic>
        <p:nvPicPr>
          <p:cNvPr id="21" name="Image 3" descr="/home/claude/icons/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965" y="3404997"/>
            <a:ext cx="276606" cy="27660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9808" y="388620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Detection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749808" y="4142232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clusters and cross-border interconnection patterns with WAPP.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389120" y="310896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/>
        </p:spPr>
      </p:sp>
      <p:sp>
        <p:nvSpPr>
          <p:cNvPr id="25" name="Shape 19"/>
          <p:cNvSpPr/>
          <p:nvPr/>
        </p:nvSpPr>
        <p:spPr>
          <a:xfrm>
            <a:off x="4590288" y="3291840"/>
            <a:ext cx="502920" cy="502920"/>
          </a:xfrm>
          <a:prstGeom prst="ellipse">
            <a:avLst/>
          </a:prstGeom>
          <a:solidFill>
            <a:srgbClr val="132A4A"/>
          </a:solidFill>
          <a:ln/>
        </p:spPr>
      </p:sp>
      <p:pic>
        <p:nvPicPr>
          <p:cNvPr id="26" name="Image 4" descr="/home/claude/icons/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3445" y="3404997"/>
            <a:ext cx="276606" cy="27660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90288" y="388620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Substations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4590288" y="4142232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whose removal would most damage connectivity — priority candidates for hardening.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8229600" y="310896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EAF0F7"/>
          </a:solidFill>
          <a:ln/>
        </p:spPr>
      </p:sp>
      <p:sp>
        <p:nvSpPr>
          <p:cNvPr id="30" name="Shape 23"/>
          <p:cNvSpPr/>
          <p:nvPr/>
        </p:nvSpPr>
        <p:spPr>
          <a:xfrm>
            <a:off x="8430768" y="3291840"/>
            <a:ext cx="502920" cy="502920"/>
          </a:xfrm>
          <a:prstGeom prst="ellipse">
            <a:avLst/>
          </a:prstGeom>
          <a:solidFill>
            <a:srgbClr val="132A4A"/>
          </a:solidFill>
          <a:ln/>
        </p:spPr>
      </p:sp>
      <p:pic>
        <p:nvPicPr>
          <p:cNvPr id="31" name="Image 5" descr="/home/claude/icons/warnin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3925" y="3404997"/>
            <a:ext cx="276606" cy="27660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430768" y="388620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Bridge Lines</a:t>
            </a:r>
            <a:endParaRPr lang="en-US" sz="1250" dirty="0"/>
          </a:p>
        </p:txBody>
      </p:sp>
      <p:sp>
        <p:nvSpPr>
          <p:cNvPr id="33" name="Text 25"/>
          <p:cNvSpPr txBox="1"/>
          <p:nvPr/>
        </p:nvSpPr>
        <p:spPr>
          <a:xfrm>
            <a:off x="8430768" y="4142232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lines whose loss would disconnect parts of the network.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Electricity Grid Network Analysis  |  Task 3.3 Stakeholder Presentation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· STEP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N-1 Contingency: What If a Major Substation Fails?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simplified version of the contingency analysis grid operators run before taking equipment out for maintenance: we remove one major substation at a time and measure how many disconnected components the network splits into.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212080" cy="3383280"/>
          </a:xfrm>
          <a:prstGeom prst="roundRect">
            <a:avLst>
              <a:gd name="adj" fmla="val 2703"/>
            </a:avLst>
          </a:prstGeom>
          <a:solidFill>
            <a:srgbClr val="1B3A5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146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Fully Connected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89888" y="3218688"/>
            <a:ext cx="1097280" cy="-182880"/>
          </a:xfrm>
          <a:prstGeom prst="line">
            <a:avLst/>
          </a:prstGeom>
          <a:noFill/>
          <a:ln w="22860">
            <a:solidFill>
              <a:srgbClr val="3A55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87168" y="3035808"/>
            <a:ext cx="1097280" cy="274320"/>
          </a:xfrm>
          <a:prstGeom prst="line">
            <a:avLst/>
          </a:prstGeom>
          <a:noFill/>
          <a:ln w="22860">
            <a:solidFill>
              <a:srgbClr val="3A55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89888" y="3218688"/>
            <a:ext cx="365760" cy="914400"/>
          </a:xfrm>
          <a:prstGeom prst="line">
            <a:avLst/>
          </a:prstGeom>
          <a:noFill/>
          <a:ln w="22860">
            <a:solidFill>
              <a:srgbClr val="3A55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55648" y="4133088"/>
            <a:ext cx="1307592" cy="118872"/>
          </a:xfrm>
          <a:prstGeom prst="line">
            <a:avLst/>
          </a:prstGeom>
          <a:noFill/>
          <a:ln w="22860">
            <a:solidFill>
              <a:srgbClr val="3A557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63240" y="4251960"/>
            <a:ext cx="-576072" cy="-1216152"/>
          </a:xfrm>
          <a:prstGeom prst="line">
            <a:avLst/>
          </a:prstGeom>
          <a:noFill/>
          <a:ln w="22860">
            <a:solidFill>
              <a:srgbClr val="3A55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3240" y="4251960"/>
            <a:ext cx="1252728" cy="-393192"/>
          </a:xfrm>
          <a:prstGeom prst="line">
            <a:avLst/>
          </a:prstGeom>
          <a:noFill/>
          <a:ln w="22860">
            <a:solidFill>
              <a:srgbClr val="3A55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84448" y="3310128"/>
            <a:ext cx="731520" cy="548640"/>
          </a:xfrm>
          <a:prstGeom prst="line">
            <a:avLst/>
          </a:prstGeom>
          <a:noFill/>
          <a:ln w="22860">
            <a:solidFill>
              <a:srgbClr val="3A557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55648" y="4133088"/>
            <a:ext cx="539496" cy="813816"/>
          </a:xfrm>
          <a:prstGeom prst="line">
            <a:avLst/>
          </a:prstGeom>
          <a:noFill/>
          <a:ln w="22860">
            <a:solidFill>
              <a:srgbClr val="3A55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63240" y="4251960"/>
            <a:ext cx="512064" cy="877824"/>
          </a:xfrm>
          <a:prstGeom prst="line">
            <a:avLst/>
          </a:prstGeom>
          <a:noFill/>
          <a:ln w="22860">
            <a:solidFill>
              <a:srgbClr val="3A557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75304" y="5129784"/>
            <a:ext cx="-1280160" cy="-182880"/>
          </a:xfrm>
          <a:prstGeom prst="line">
            <a:avLst/>
          </a:prstGeom>
          <a:noFill/>
          <a:ln w="22860">
            <a:solidFill>
              <a:srgbClr val="3A557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80160" y="3108960"/>
            <a:ext cx="219456" cy="219456"/>
          </a:xfrm>
          <a:prstGeom prst="ellipse">
            <a:avLst/>
          </a:prstGeom>
          <a:solidFill>
            <a:srgbClr val="1C9E8E"/>
          </a:solidFill>
          <a:ln w="19050">
            <a:solidFill>
              <a:srgbClr val="0C1D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2926080"/>
            <a:ext cx="219456" cy="219456"/>
          </a:xfrm>
          <a:prstGeom prst="ellipse">
            <a:avLst/>
          </a:prstGeom>
          <a:solidFill>
            <a:srgbClr val="1C9E8E"/>
          </a:solidFill>
          <a:ln w="19050">
            <a:solidFill>
              <a:srgbClr val="0C1D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3200400"/>
            <a:ext cx="219456" cy="219456"/>
          </a:xfrm>
          <a:prstGeom prst="ellipse">
            <a:avLst/>
          </a:prstGeom>
          <a:solidFill>
            <a:srgbClr val="1C9E8E"/>
          </a:solidFill>
          <a:ln w="19050">
            <a:solidFill>
              <a:srgbClr val="0C1D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0" y="4023360"/>
            <a:ext cx="219456" cy="219456"/>
          </a:xfrm>
          <a:prstGeom prst="ellipse">
            <a:avLst/>
          </a:prstGeom>
          <a:solidFill>
            <a:srgbClr val="1C9E8E"/>
          </a:solidFill>
          <a:ln w="19050">
            <a:solidFill>
              <a:srgbClr val="0C1D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26080" y="4114800"/>
            <a:ext cx="274320" cy="274320"/>
          </a:xfrm>
          <a:prstGeom prst="ellipse">
            <a:avLst/>
          </a:prstGeom>
          <a:solidFill>
            <a:srgbClr val="E8A33D"/>
          </a:solidFill>
          <a:ln w="19050">
            <a:solidFill>
              <a:srgbClr val="0C1D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06240" y="3749040"/>
            <a:ext cx="219456" cy="219456"/>
          </a:xfrm>
          <a:prstGeom prst="ellipse">
            <a:avLst/>
          </a:prstGeom>
          <a:solidFill>
            <a:srgbClr val="1C9E8E"/>
          </a:solidFill>
          <a:ln w="19050">
            <a:solidFill>
              <a:srgbClr val="0C1D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94560" y="4846320"/>
            <a:ext cx="201168" cy="201168"/>
          </a:xfrm>
          <a:prstGeom prst="ellipse">
            <a:avLst/>
          </a:prstGeom>
          <a:solidFill>
            <a:srgbClr val="1C9E8E"/>
          </a:solidFill>
          <a:ln w="19050">
            <a:solidFill>
              <a:srgbClr val="0C1D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5029200"/>
            <a:ext cx="201168" cy="201168"/>
          </a:xfrm>
          <a:prstGeom prst="ellipse">
            <a:avLst/>
          </a:prstGeom>
          <a:solidFill>
            <a:srgbClr val="1C9E8E"/>
          </a:solidFill>
          <a:ln w="19050">
            <a:solidFill>
              <a:srgbClr val="0C1D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2331720"/>
            <a:ext cx="5212080" cy="3383280"/>
          </a:xfrm>
          <a:prstGeom prst="roundRect">
            <a:avLst>
              <a:gd name="adj" fmla="val 2703"/>
            </a:avLst>
          </a:prstGeom>
          <a:solidFill>
            <a:srgbClr val="1B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25146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Hub Substation Removed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150608" y="3218688"/>
            <a:ext cx="1097280" cy="-182880"/>
          </a:xfrm>
          <a:prstGeom prst="line">
            <a:avLst/>
          </a:prstGeom>
          <a:noFill/>
          <a:ln w="22860">
            <a:solidFill>
              <a:srgbClr val="3A557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47888" y="3035808"/>
            <a:ext cx="1097280" cy="274320"/>
          </a:xfrm>
          <a:prstGeom prst="line">
            <a:avLst/>
          </a:prstGeom>
          <a:noFill/>
          <a:ln w="22860">
            <a:solidFill>
              <a:srgbClr val="3A557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50608" y="3218688"/>
            <a:ext cx="365760" cy="914400"/>
          </a:xfrm>
          <a:prstGeom prst="line">
            <a:avLst/>
          </a:prstGeom>
          <a:noFill/>
          <a:ln w="22860">
            <a:solidFill>
              <a:srgbClr val="3A557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45168" y="3310128"/>
            <a:ext cx="731520" cy="548640"/>
          </a:xfrm>
          <a:prstGeom prst="line">
            <a:avLst/>
          </a:prstGeom>
          <a:noFill/>
          <a:ln w="22860">
            <a:solidFill>
              <a:srgbClr val="3A557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16368" y="4133088"/>
            <a:ext cx="539496" cy="813816"/>
          </a:xfrm>
          <a:prstGeom prst="line">
            <a:avLst/>
          </a:prstGeom>
          <a:noFill/>
          <a:ln w="22860">
            <a:solidFill>
              <a:srgbClr val="3A557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55864" y="4946904"/>
            <a:ext cx="1280160" cy="182880"/>
          </a:xfrm>
          <a:prstGeom prst="line">
            <a:avLst/>
          </a:prstGeom>
          <a:noFill/>
          <a:ln w="22860">
            <a:solidFill>
              <a:srgbClr val="3A557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40880" y="3108960"/>
            <a:ext cx="219456" cy="219456"/>
          </a:xfrm>
          <a:prstGeom prst="ellipse">
            <a:avLst/>
          </a:prstGeom>
          <a:solidFill>
            <a:srgbClr val="1C9E8E"/>
          </a:solidFill>
          <a:ln w="19050">
            <a:solidFill>
              <a:srgbClr val="0C1D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38160" y="2926080"/>
            <a:ext cx="219456" cy="219456"/>
          </a:xfrm>
          <a:prstGeom prst="ellipse">
            <a:avLst/>
          </a:prstGeom>
          <a:solidFill>
            <a:srgbClr val="1C9E8E"/>
          </a:solidFill>
          <a:ln w="19050">
            <a:solidFill>
              <a:srgbClr val="0C1D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235440" y="3200400"/>
            <a:ext cx="219456" cy="219456"/>
          </a:xfrm>
          <a:prstGeom prst="ellipse">
            <a:avLst/>
          </a:prstGeom>
          <a:solidFill>
            <a:srgbClr val="1C9E8E"/>
          </a:solidFill>
          <a:ln w="19050">
            <a:solidFill>
              <a:srgbClr val="0C1D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06640" y="4023360"/>
            <a:ext cx="219456" cy="219456"/>
          </a:xfrm>
          <a:prstGeom prst="ellipse">
            <a:avLst/>
          </a:prstGeom>
          <a:solidFill>
            <a:srgbClr val="1C9E8E"/>
          </a:solidFill>
          <a:ln w="19050">
            <a:solidFill>
              <a:srgbClr val="0C1D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966960" y="3749040"/>
            <a:ext cx="219456" cy="219456"/>
          </a:xfrm>
          <a:prstGeom prst="ellipse">
            <a:avLst/>
          </a:prstGeom>
          <a:solidFill>
            <a:srgbClr val="1C9E8E"/>
          </a:solidFill>
          <a:ln w="19050">
            <a:solidFill>
              <a:srgbClr val="0C1D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955280" y="4846320"/>
            <a:ext cx="201168" cy="201168"/>
          </a:xfrm>
          <a:prstGeom prst="ellipse">
            <a:avLst/>
          </a:prstGeom>
          <a:solidFill>
            <a:srgbClr val="1C9E8E"/>
          </a:solidFill>
          <a:ln w="19050">
            <a:solidFill>
              <a:srgbClr val="0C1D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235440" y="5029200"/>
            <a:ext cx="201168" cy="201168"/>
          </a:xfrm>
          <a:prstGeom prst="ellipse">
            <a:avLst/>
          </a:prstGeom>
          <a:solidFill>
            <a:srgbClr val="1C9E8E"/>
          </a:solidFill>
          <a:ln w="19050">
            <a:solidFill>
              <a:srgbClr val="0C1D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86800" y="4114800"/>
            <a:ext cx="274320" cy="274320"/>
          </a:xfrm>
          <a:prstGeom prst="ellipse">
            <a:avLst/>
          </a:prstGeom>
          <a:solidFill>
            <a:srgbClr val="2A3F55"/>
          </a:solidFill>
          <a:ln w="25400">
            <a:solidFill>
              <a:srgbClr val="E96B6B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8686800" y="4114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number of components after removing each top-ranked substation]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Electricity Grid Network Analysis  |  Task 3.3 Stakeholder Presentation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· STEP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 &amp; Geospatial Analysis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patterns reveal where the grid is dense, where it is thin, and how well regions and WAPP interconnection points are served.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EAF0F7"/>
          </a:solidFill>
          <a:ln/>
        </p:spPr>
      </p:sp>
      <p:sp>
        <p:nvSpPr>
          <p:cNvPr id="6" name="Shape 4"/>
          <p:cNvSpPr/>
          <p:nvPr/>
        </p:nvSpPr>
        <p:spPr>
          <a:xfrm>
            <a:off x="1531620" y="2240280"/>
            <a:ext cx="640080" cy="640080"/>
          </a:xfrm>
          <a:prstGeom prst="ellipse">
            <a:avLst/>
          </a:prstGeom>
          <a:solidFill>
            <a:srgbClr val="132A4A"/>
          </a:solidFill>
          <a:ln/>
        </p:spPr>
      </p:sp>
      <p:pic>
        <p:nvPicPr>
          <p:cNvPr id="7" name="Image 0" descr="/home/claude/icons/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5638" y="2384298"/>
            <a:ext cx="352044" cy="3520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30632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Connectivity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3611880"/>
            <a:ext cx="220370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grid density across Ghana's regions and cross-border WAPP interconnection points.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10712" y="196596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EAF0F7"/>
          </a:solidFill>
          <a:ln/>
        </p:spPr>
      </p:sp>
      <p:sp>
        <p:nvSpPr>
          <p:cNvPr id="11" name="Shape 8"/>
          <p:cNvSpPr/>
          <p:nvPr/>
        </p:nvSpPr>
        <p:spPr>
          <a:xfrm>
            <a:off x="4393692" y="2240280"/>
            <a:ext cx="640080" cy="640080"/>
          </a:xfrm>
          <a:prstGeom prst="ellipse">
            <a:avLst/>
          </a:prstGeom>
          <a:solidFill>
            <a:srgbClr val="132A4A"/>
          </a:solidFill>
          <a:ln/>
        </p:spPr>
      </p:sp>
      <p:pic>
        <p:nvPicPr>
          <p:cNvPr id="12" name="Image 1" descr="/home/claude/icons/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7710" y="2384298"/>
            <a:ext cx="352044" cy="3520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93592" y="30632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Distance Analysis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3611880" y="3611880"/>
            <a:ext cx="220370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 lines as short, medium, or long transmission runs using geodesic distance.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272784" y="196596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EAF0F7"/>
          </a:solidFill>
          <a:ln/>
        </p:spPr>
      </p:sp>
      <p:sp>
        <p:nvSpPr>
          <p:cNvPr id="16" name="Shape 12"/>
          <p:cNvSpPr/>
          <p:nvPr/>
        </p:nvSpPr>
        <p:spPr>
          <a:xfrm>
            <a:off x="7255764" y="2240280"/>
            <a:ext cx="640080" cy="640080"/>
          </a:xfrm>
          <a:prstGeom prst="ellipse">
            <a:avLst/>
          </a:prstGeom>
          <a:solidFill>
            <a:srgbClr val="132A4A"/>
          </a:solidFill>
          <a:ln/>
        </p:spPr>
      </p:sp>
      <p:pic>
        <p:nvPicPr>
          <p:cNvPr id="17" name="Image 2" descr="/home/claude/icons/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782" y="2384298"/>
            <a:ext cx="352044" cy="35204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55664" y="30632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 Gaps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6473952" y="3611880"/>
            <a:ext cx="220370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regions that appear underserved relative to population or area.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9134856" y="196596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EAF0F7"/>
          </a:solidFill>
          <a:ln/>
        </p:spPr>
      </p:sp>
      <p:sp>
        <p:nvSpPr>
          <p:cNvPr id="21" name="Shape 16"/>
          <p:cNvSpPr/>
          <p:nvPr/>
        </p:nvSpPr>
        <p:spPr>
          <a:xfrm>
            <a:off x="10117836" y="2240280"/>
            <a:ext cx="640080" cy="640080"/>
          </a:xfrm>
          <a:prstGeom prst="ellipse">
            <a:avLst/>
          </a:prstGeom>
          <a:solidFill>
            <a:srgbClr val="132A4A"/>
          </a:solidFill>
          <a:ln/>
        </p:spPr>
      </p:sp>
      <p:pic>
        <p:nvPicPr>
          <p:cNvPr id="22" name="Image 3" descr="/home/claude/icons/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1854" y="2384298"/>
            <a:ext cx="352044" cy="35204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317736" y="30632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Utility Territory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9336024" y="3611880"/>
            <a:ext cx="220370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each utility's geographic footprint and service boundaries.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Electricity Grid Network Analysis  |  Task 3.3 Stakeholder Presentation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A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· STEP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Intelligence &amp; Reliability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55648"/>
            <a:ext cx="457200" cy="457200"/>
          </a:xfrm>
          <a:prstGeom prst="ellipse">
            <a:avLst/>
          </a:prstGeom>
          <a:solidFill>
            <a:srgbClr val="132A4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55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673352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Asset Age Profile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673352"/>
            <a:ext cx="6537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network structure across older vs. newer infrastructure.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587752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788920"/>
            <a:ext cx="457200" cy="457200"/>
          </a:xfrm>
          <a:prstGeom prst="ellipse">
            <a:avLst/>
          </a:prstGeom>
          <a:solidFill>
            <a:srgbClr val="1C9E8E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706624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 Proxy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2706624"/>
            <a:ext cx="6537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maintenance status, line length, and centrality into a reliability signal.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621024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822192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22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739896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 Planning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739896"/>
            <a:ext cx="6537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growth opportunities where demand may outpace current capacity.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654296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855464"/>
            <a:ext cx="457200" cy="457200"/>
          </a:xfrm>
          <a:prstGeom prst="ellipse">
            <a:avLst/>
          </a:prstGeom>
          <a:solidFill>
            <a:srgbClr val="13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855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477316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892040" y="4773168"/>
            <a:ext cx="6537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findings into prioritized, actionable recommendations.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Electricity Grid Network Analysis  |  Task 3.3 Stakeholder Presentation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Interactive Dashboard Ties It All Together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Streamlit/Dash, the dashboard integrates every analysis into a single stakeholder-facing tool.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084832" cy="3200400"/>
          </a:xfrm>
          <a:prstGeom prst="roundRect">
            <a:avLst>
              <a:gd name="adj" fmla="val 4386"/>
            </a:avLst>
          </a:prstGeom>
          <a:solidFill>
            <a:srgbClr val="1B3A5F"/>
          </a:solidFill>
          <a:ln/>
        </p:spPr>
      </p:sp>
      <p:sp>
        <p:nvSpPr>
          <p:cNvPr id="6" name="Shape 4"/>
          <p:cNvSpPr/>
          <p:nvPr/>
        </p:nvSpPr>
        <p:spPr>
          <a:xfrm>
            <a:off x="1316736" y="237744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7" name="Image 0" descr="/home/claude/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180" y="2500884"/>
            <a:ext cx="301752" cy="30175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315468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520440"/>
            <a:ext cx="181051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statistics &amp; executive summary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798064" y="2103120"/>
            <a:ext cx="2084832" cy="3200400"/>
          </a:xfrm>
          <a:prstGeom prst="roundRect">
            <a:avLst>
              <a:gd name="adj" fmla="val 4386"/>
            </a:avLst>
          </a:prstGeom>
          <a:solidFill>
            <a:srgbClr val="1B3A5F"/>
          </a:solidFill>
          <a:ln/>
        </p:spPr>
      </p:sp>
      <p:sp>
        <p:nvSpPr>
          <p:cNvPr id="11" name="Shape 8"/>
          <p:cNvSpPr/>
          <p:nvPr/>
        </p:nvSpPr>
        <p:spPr>
          <a:xfrm>
            <a:off x="3566160" y="237744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2" name="Image 1" descr="/home/claude/icons/net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604" y="250088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35224" y="315468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2935224" y="3520440"/>
            <a:ext cx="181051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graphs with filtering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047488" y="2103120"/>
            <a:ext cx="2084832" cy="3200400"/>
          </a:xfrm>
          <a:prstGeom prst="roundRect">
            <a:avLst>
              <a:gd name="adj" fmla="val 4386"/>
            </a:avLst>
          </a:prstGeom>
          <a:solidFill>
            <a:srgbClr val="1B3A5F"/>
          </a:solidFill>
          <a:ln/>
        </p:spPr>
      </p:sp>
      <p:sp>
        <p:nvSpPr>
          <p:cNvPr id="16" name="Shape 12"/>
          <p:cNvSpPr/>
          <p:nvPr/>
        </p:nvSpPr>
        <p:spPr>
          <a:xfrm>
            <a:off x="5815584" y="237744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7" name="Image 2" descr="/home/claude/icons/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028" y="2500884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184648" y="315468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Geography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184648" y="3520440"/>
            <a:ext cx="181051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map with multiple overlays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7296912" y="2103120"/>
            <a:ext cx="2084832" cy="3200400"/>
          </a:xfrm>
          <a:prstGeom prst="roundRect">
            <a:avLst>
              <a:gd name="adj" fmla="val 4386"/>
            </a:avLst>
          </a:prstGeom>
          <a:solidFill>
            <a:srgbClr val="1B3A5F"/>
          </a:solidFill>
          <a:ln/>
        </p:spPr>
      </p:sp>
      <p:sp>
        <p:nvSpPr>
          <p:cNvPr id="21" name="Shape 16"/>
          <p:cNvSpPr/>
          <p:nvPr/>
        </p:nvSpPr>
        <p:spPr>
          <a:xfrm>
            <a:off x="8065008" y="237744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2" name="Image 3" descr="/home/claude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8452" y="2500884"/>
            <a:ext cx="301752" cy="30175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434072" y="315468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7434072" y="3520440"/>
            <a:ext cx="181051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&amp; capacity/reliability analysis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9546336" y="2103120"/>
            <a:ext cx="2084832" cy="3200400"/>
          </a:xfrm>
          <a:prstGeom prst="roundRect">
            <a:avLst>
              <a:gd name="adj" fmla="val 4386"/>
            </a:avLst>
          </a:prstGeom>
          <a:solidFill>
            <a:srgbClr val="1B3A5F"/>
          </a:solidFill>
          <a:ln/>
        </p:spPr>
      </p:sp>
      <p:sp>
        <p:nvSpPr>
          <p:cNvPr id="26" name="Shape 20"/>
          <p:cNvSpPr/>
          <p:nvPr/>
        </p:nvSpPr>
        <p:spPr>
          <a:xfrm>
            <a:off x="10314432" y="237744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7" name="Image 4" descr="/home/claude/icons/sear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7876" y="2500884"/>
            <a:ext cx="301752" cy="30175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9683496" y="315468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9683496" y="3520440"/>
            <a:ext cx="181051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Substation finder &amp; utility comparison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Electricity Grid Network Analysis  |  Task 3.3 Stakeholder Presentation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Telling the Story Visually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084832" cy="3108960"/>
          </a:xfrm>
          <a:prstGeom prst="roundRect">
            <a:avLst>
              <a:gd name="adj" fmla="val 4386"/>
            </a:avLst>
          </a:prstGeom>
          <a:solidFill>
            <a:srgbClr val="EAF0F7"/>
          </a:solidFill>
          <a:ln/>
        </p:spPr>
      </p:sp>
      <p:sp>
        <p:nvSpPr>
          <p:cNvPr id="5" name="Shape 3"/>
          <p:cNvSpPr/>
          <p:nvPr/>
        </p:nvSpPr>
        <p:spPr>
          <a:xfrm>
            <a:off x="1316736" y="1783080"/>
            <a:ext cx="548640" cy="548640"/>
          </a:xfrm>
          <a:prstGeom prst="ellipse">
            <a:avLst/>
          </a:prstGeom>
          <a:solidFill>
            <a:srgbClr val="132A4A"/>
          </a:solidFill>
          <a:ln/>
        </p:spPr>
      </p:sp>
      <p:pic>
        <p:nvPicPr>
          <p:cNvPr id="6" name="Image 0" descr="/home/claude/icons/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180" y="1906524"/>
            <a:ext cx="301752" cy="30175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56032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Graphs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017520"/>
            <a:ext cx="18105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Force-directed layouts of substation connections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98064" y="1508760"/>
            <a:ext cx="2084832" cy="3108960"/>
          </a:xfrm>
          <a:prstGeom prst="roundRect">
            <a:avLst>
              <a:gd name="adj" fmla="val 4386"/>
            </a:avLst>
          </a:prstGeom>
          <a:solidFill>
            <a:srgbClr val="EAF0F7"/>
          </a:solidFill>
          <a:ln/>
        </p:spPr>
      </p:sp>
      <p:sp>
        <p:nvSpPr>
          <p:cNvPr id="10" name="Shape 7"/>
          <p:cNvSpPr/>
          <p:nvPr/>
        </p:nvSpPr>
        <p:spPr>
          <a:xfrm>
            <a:off x="3566160" y="1783080"/>
            <a:ext cx="548640" cy="548640"/>
          </a:xfrm>
          <a:prstGeom prst="ellipse">
            <a:avLst/>
          </a:prstGeom>
          <a:solidFill>
            <a:srgbClr val="132A4A"/>
          </a:solidFill>
          <a:ln/>
        </p:spPr>
      </p:sp>
      <p:pic>
        <p:nvPicPr>
          <p:cNvPr id="11" name="Image 1" descr="/home/claude/icons/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604" y="190652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935224" y="256032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Chord Diagrams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2935224" y="3017520"/>
            <a:ext cx="18105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Inter-regional and cross-border power-line flow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047488" y="1508760"/>
            <a:ext cx="2084832" cy="3108960"/>
          </a:xfrm>
          <a:prstGeom prst="roundRect">
            <a:avLst>
              <a:gd name="adj" fmla="val 4386"/>
            </a:avLst>
          </a:prstGeom>
          <a:solidFill>
            <a:srgbClr val="EAF0F7"/>
          </a:solidFill>
          <a:ln/>
        </p:spPr>
      </p:sp>
      <p:sp>
        <p:nvSpPr>
          <p:cNvPr id="15" name="Shape 11"/>
          <p:cNvSpPr/>
          <p:nvPr/>
        </p:nvSpPr>
        <p:spPr>
          <a:xfrm>
            <a:off x="5815584" y="1783080"/>
            <a:ext cx="548640" cy="548640"/>
          </a:xfrm>
          <a:prstGeom prst="ellipse">
            <a:avLst/>
          </a:prstGeom>
          <a:solidFill>
            <a:srgbClr val="132A4A"/>
          </a:solidFill>
          <a:ln/>
        </p:spPr>
      </p:sp>
      <p:pic>
        <p:nvPicPr>
          <p:cNvPr id="16" name="Image 2" descr="/home/claude/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028" y="190652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184648" y="256032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Heatmaps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5184648" y="3017520"/>
            <a:ext cx="18105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density and maintenance-status concentration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7296912" y="1508760"/>
            <a:ext cx="2084832" cy="3108960"/>
          </a:xfrm>
          <a:prstGeom prst="roundRect">
            <a:avLst>
              <a:gd name="adj" fmla="val 4386"/>
            </a:avLst>
          </a:prstGeom>
          <a:solidFill>
            <a:srgbClr val="EAF0F7"/>
          </a:solidFill>
          <a:ln/>
        </p:spPr>
      </p:sp>
      <p:sp>
        <p:nvSpPr>
          <p:cNvPr id="20" name="Shape 15"/>
          <p:cNvSpPr/>
          <p:nvPr/>
        </p:nvSpPr>
        <p:spPr>
          <a:xfrm>
            <a:off x="8065008" y="1783080"/>
            <a:ext cx="548640" cy="548640"/>
          </a:xfrm>
          <a:prstGeom prst="ellipse">
            <a:avLst/>
          </a:prstGeom>
          <a:solidFill>
            <a:srgbClr val="132A4A"/>
          </a:solidFill>
          <a:ln/>
        </p:spPr>
      </p:sp>
      <p:pic>
        <p:nvPicPr>
          <p:cNvPr id="21" name="Image 3" descr="/home/claude/icons/m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8452" y="190652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34072" y="256032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Animated Maps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7434072" y="3017520"/>
            <a:ext cx="18105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expansion over commissioning year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9546336" y="1508760"/>
            <a:ext cx="2084832" cy="3108960"/>
          </a:xfrm>
          <a:prstGeom prst="roundRect">
            <a:avLst>
              <a:gd name="adj" fmla="val 4386"/>
            </a:avLst>
          </a:prstGeom>
          <a:solidFill>
            <a:srgbClr val="EAF0F7"/>
          </a:solidFill>
          <a:ln/>
        </p:spPr>
      </p:sp>
      <p:sp>
        <p:nvSpPr>
          <p:cNvPr id="25" name="Shape 19"/>
          <p:cNvSpPr/>
          <p:nvPr/>
        </p:nvSpPr>
        <p:spPr>
          <a:xfrm>
            <a:off x="10314432" y="1783080"/>
            <a:ext cx="548640" cy="548640"/>
          </a:xfrm>
          <a:prstGeom prst="ellipse">
            <a:avLst/>
          </a:prstGeom>
          <a:solidFill>
            <a:srgbClr val="132A4A"/>
          </a:solidFill>
          <a:ln/>
        </p:spPr>
      </p:sp>
      <p:pic>
        <p:nvPicPr>
          <p:cNvPr id="26" name="Image 4" descr="/home/claude/icons/pres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7876" y="1906524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683496" y="256032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Comparative Charts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9683496" y="3017520"/>
            <a:ext cx="18105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and substation performance metrics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548640" y="4892040"/>
            <a:ext cx="11064240" cy="1005840"/>
          </a:xfrm>
          <a:prstGeom prst="rect">
            <a:avLst/>
          </a:prstGeom>
          <a:solidFill>
            <a:srgbClr val="EAF0F7"/>
          </a:solidFill>
          <a:ln w="12700">
            <a:solidFill>
              <a:srgbClr val="D7E0E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2–3 example visualizations from your gallery here]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Electricity Grid Network Analysis  |  Task 3.3 Stakeholder Presentation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A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Component Produces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92608" cy="292608"/>
          </a:xfrm>
          <a:prstGeom prst="ellipse">
            <a:avLst/>
          </a:prstGeom>
          <a:solidFill>
            <a:srgbClr val="1C9E8E"/>
          </a:solidFill>
          <a:ln/>
        </p:spPr>
      </p:sp>
      <p:pic>
        <p:nvPicPr>
          <p:cNvPr id="5" name="Image 0" descr="/home/claude/icons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77" y="1528877"/>
            <a:ext cx="160934" cy="1609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141732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analysis report with key findings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847088"/>
            <a:ext cx="292608" cy="292608"/>
          </a:xfrm>
          <a:prstGeom prst="ellipse">
            <a:avLst/>
          </a:prstGeom>
          <a:solidFill>
            <a:srgbClr val="1C9E8E"/>
          </a:solidFill>
          <a:ln/>
        </p:spPr>
      </p:sp>
      <p:pic>
        <p:nvPicPr>
          <p:cNvPr id="8" name="Image 1" descr="/home/claude/icons/clip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7" y="1912925"/>
            <a:ext cx="160934" cy="16093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60120" y="1801368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network visualization &amp; metrics dashboard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2231136"/>
            <a:ext cx="292608" cy="292608"/>
          </a:xfrm>
          <a:prstGeom prst="ellipse">
            <a:avLst/>
          </a:prstGeom>
          <a:solidFill>
            <a:srgbClr val="1C9E8E"/>
          </a:solidFill>
          <a:ln/>
        </p:spPr>
      </p:sp>
      <p:pic>
        <p:nvPicPr>
          <p:cNvPr id="11" name="Image 2" descr="/home/claude/icons/clip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7" y="2296973"/>
            <a:ext cx="160934" cy="16093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60120" y="2185416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Critical-substation ranking and classification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48640" y="2615184"/>
            <a:ext cx="292608" cy="292608"/>
          </a:xfrm>
          <a:prstGeom prst="ellipse">
            <a:avLst/>
          </a:prstGeom>
          <a:solidFill>
            <a:srgbClr val="1C9E8E"/>
          </a:solidFill>
          <a:ln/>
        </p:spPr>
      </p:sp>
      <p:pic>
        <p:nvPicPr>
          <p:cNvPr id="14" name="Image 3" descr="/home/claude/icons/clip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7" y="2681021"/>
            <a:ext cx="160934" cy="16093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60120" y="2569464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 with multiple geographic layers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548640" y="2999232"/>
            <a:ext cx="292608" cy="292608"/>
          </a:xfrm>
          <a:prstGeom prst="ellipse">
            <a:avLst/>
          </a:prstGeom>
          <a:solidFill>
            <a:srgbClr val="1C9E8E"/>
          </a:solidFill>
          <a:ln/>
        </p:spPr>
      </p:sp>
      <p:pic>
        <p:nvPicPr>
          <p:cNvPr id="17" name="Image 4" descr="/home/claude/icons/clipbo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77" y="3065069"/>
            <a:ext cx="160934" cy="16093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60120" y="295351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Business-intelligence dashboard &amp; reliability report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548640" y="3383280"/>
            <a:ext cx="292608" cy="292608"/>
          </a:xfrm>
          <a:prstGeom prst="ellipse">
            <a:avLst/>
          </a:prstGeom>
          <a:solidFill>
            <a:srgbClr val="1C9E8E"/>
          </a:solidFill>
          <a:ln/>
        </p:spPr>
      </p:sp>
      <p:pic>
        <p:nvPicPr>
          <p:cNvPr id="20" name="Image 5" descr="/home/claude/icons/clipboar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477" y="3449117"/>
            <a:ext cx="160934" cy="160934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960120" y="333756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 document</a:t>
            </a:r>
            <a:endParaRPr lang="en-US" sz="1100" dirty="0"/>
          </a:p>
        </p:txBody>
      </p:sp>
      <p:sp>
        <p:nvSpPr>
          <p:cNvPr id="22" name="Shape 14"/>
          <p:cNvSpPr/>
          <p:nvPr/>
        </p:nvSpPr>
        <p:spPr>
          <a:xfrm>
            <a:off x="6263640" y="1463040"/>
            <a:ext cx="292608" cy="292608"/>
          </a:xfrm>
          <a:prstGeom prst="ellipse">
            <a:avLst/>
          </a:prstGeom>
          <a:solidFill>
            <a:srgbClr val="1C9E8E"/>
          </a:solidFill>
          <a:ln/>
        </p:spPr>
      </p:sp>
      <p:pic>
        <p:nvPicPr>
          <p:cNvPr id="23" name="Image 6" descr="/home/claude/icons/clipboar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9477" y="1528877"/>
            <a:ext cx="160934" cy="16093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6675120" y="141732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 integrated dashboard</a:t>
            </a:r>
            <a:endParaRPr lang="en-US" sz="1100" dirty="0"/>
          </a:p>
        </p:txBody>
      </p:sp>
      <p:sp>
        <p:nvSpPr>
          <p:cNvPr id="25" name="Shape 16"/>
          <p:cNvSpPr/>
          <p:nvPr/>
        </p:nvSpPr>
        <p:spPr>
          <a:xfrm>
            <a:off x="6263640" y="1847088"/>
            <a:ext cx="292608" cy="292608"/>
          </a:xfrm>
          <a:prstGeom prst="ellipse">
            <a:avLst/>
          </a:prstGeom>
          <a:solidFill>
            <a:srgbClr val="1C9E8E"/>
          </a:solidFill>
          <a:ln/>
        </p:spPr>
      </p:sp>
      <p:pic>
        <p:nvPicPr>
          <p:cNvPr id="26" name="Image 7" descr="/home/claude/icons/clipboar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9477" y="1912925"/>
            <a:ext cx="160934" cy="160934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6675120" y="1801368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technical documentation &amp; user guide</a:t>
            </a:r>
            <a:endParaRPr lang="en-US" sz="1100" dirty="0"/>
          </a:p>
        </p:txBody>
      </p:sp>
      <p:sp>
        <p:nvSpPr>
          <p:cNvPr id="28" name="Shape 18"/>
          <p:cNvSpPr/>
          <p:nvPr/>
        </p:nvSpPr>
        <p:spPr>
          <a:xfrm>
            <a:off x="6263640" y="2231136"/>
            <a:ext cx="292608" cy="292608"/>
          </a:xfrm>
          <a:prstGeom prst="ellipse">
            <a:avLst/>
          </a:prstGeom>
          <a:solidFill>
            <a:srgbClr val="1C9E8E"/>
          </a:solidFill>
          <a:ln/>
        </p:spPr>
      </p:sp>
      <p:pic>
        <p:nvPicPr>
          <p:cNvPr id="29" name="Image 8" descr="/home/claude/icons/clipboar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9477" y="2296973"/>
            <a:ext cx="160934" cy="160934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6675120" y="2185416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report</a:t>
            </a:r>
            <a:endParaRPr lang="en-US" sz="1100" dirty="0"/>
          </a:p>
        </p:txBody>
      </p:sp>
      <p:sp>
        <p:nvSpPr>
          <p:cNvPr id="31" name="Shape 20"/>
          <p:cNvSpPr/>
          <p:nvPr/>
        </p:nvSpPr>
        <p:spPr>
          <a:xfrm>
            <a:off x="6263640" y="2615184"/>
            <a:ext cx="292608" cy="292608"/>
          </a:xfrm>
          <a:prstGeom prst="ellipse">
            <a:avLst/>
          </a:prstGeom>
          <a:solidFill>
            <a:srgbClr val="1C9E8E"/>
          </a:solidFill>
          <a:ln/>
        </p:spPr>
      </p:sp>
      <p:pic>
        <p:nvPicPr>
          <p:cNvPr id="32" name="Image 9" descr="/home/claude/icons/clipboar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9477" y="2681021"/>
            <a:ext cx="160934" cy="160934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6675120" y="2569464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slides (this deck)</a:t>
            </a:r>
            <a:endParaRPr lang="en-US" sz="1100" dirty="0"/>
          </a:p>
        </p:txBody>
      </p:sp>
      <p:sp>
        <p:nvSpPr>
          <p:cNvPr id="34" name="Shape 22"/>
          <p:cNvSpPr/>
          <p:nvPr/>
        </p:nvSpPr>
        <p:spPr>
          <a:xfrm>
            <a:off x="6263640" y="2999232"/>
            <a:ext cx="292608" cy="292608"/>
          </a:xfrm>
          <a:prstGeom prst="ellipse">
            <a:avLst/>
          </a:prstGeom>
          <a:solidFill>
            <a:srgbClr val="1C9E8E"/>
          </a:solidFill>
          <a:ln/>
        </p:spPr>
      </p:sp>
      <p:pic>
        <p:nvPicPr>
          <p:cNvPr id="35" name="Image 10" descr="/home/claude/icons/clipboar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9477" y="3065069"/>
            <a:ext cx="160934" cy="160934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6675120" y="295351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 minute video demonstration</a:t>
            </a:r>
            <a:endParaRPr lang="en-US" sz="1100" dirty="0"/>
          </a:p>
        </p:txBody>
      </p:sp>
      <p:sp>
        <p:nvSpPr>
          <p:cNvPr id="37" name="Shape 24"/>
          <p:cNvSpPr/>
          <p:nvPr/>
        </p:nvSpPr>
        <p:spPr>
          <a:xfrm>
            <a:off x="6263640" y="3383280"/>
            <a:ext cx="292608" cy="292608"/>
          </a:xfrm>
          <a:prstGeom prst="ellipse">
            <a:avLst/>
          </a:prstGeom>
          <a:solidFill>
            <a:srgbClr val="1C9E8E"/>
          </a:solidFill>
          <a:ln/>
        </p:spPr>
      </p:sp>
      <p:pic>
        <p:nvPicPr>
          <p:cNvPr id="38" name="Image 11" descr="/home/claude/icons/clipboar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9477" y="3449117"/>
            <a:ext cx="160934" cy="160934"/>
          </a:xfrm>
          <a:prstGeom prst="rect">
            <a:avLst/>
          </a:prstGeom>
        </p:spPr>
      </p:pic>
      <p:sp>
        <p:nvSpPr>
          <p:cNvPr id="39" name="Text 25"/>
          <p:cNvSpPr txBox="1"/>
          <p:nvPr/>
        </p:nvSpPr>
        <p:spPr>
          <a:xfrm>
            <a:off x="6675120" y="333756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poster for academic showcase</a:t>
            </a:r>
            <a:endParaRPr lang="en-US" sz="1100" dirty="0"/>
          </a:p>
        </p:txBody>
      </p:sp>
      <p:sp>
        <p:nvSpPr>
          <p:cNvPr id="40" name="Text 2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Electricity Grid Network Analysis  |  Task 3.3 Stakeholder Presentation</a:t>
            </a:r>
            <a:endParaRPr lang="en-US" sz="900" dirty="0"/>
          </a:p>
        </p:txBody>
      </p:sp>
      <p:sp>
        <p:nvSpPr>
          <p:cNvPr id="41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&amp; Responsibilities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EAF0F7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714500"/>
            <a:ext cx="548640" cy="548640"/>
          </a:xfrm>
          <a:prstGeom prst="ellipse">
            <a:avLst/>
          </a:prstGeom>
          <a:solidFill>
            <a:srgbClr val="132A4A"/>
          </a:solidFill>
          <a:ln/>
        </p:spPr>
      </p:sp>
      <p:pic>
        <p:nvPicPr>
          <p:cNvPr id="6" name="Image 0" descr="/home/claude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" y="1837944"/>
            <a:ext cx="301752" cy="30175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6002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Member 1 — Data Engineer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19659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integration, network analysis (Task 2.1), critical-substation ranking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63640" y="146304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EAF0F7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1714500"/>
            <a:ext cx="548640" cy="548640"/>
          </a:xfrm>
          <a:prstGeom prst="ellipse">
            <a:avLst/>
          </a:prstGeom>
          <a:solidFill>
            <a:srgbClr val="132A4A"/>
          </a:solidFill>
          <a:ln/>
        </p:spPr>
      </p:sp>
      <p:pic>
        <p:nvPicPr>
          <p:cNvPr id="11" name="Image 1" descr="/home/claude/icons/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964" y="183794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8040" y="16002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Member 2 — Data Analyst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7178040" y="19659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(Task 1.2), business intelligence &amp; reliability (Task 2.3)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274320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EAF0F7"/>
          </a:solidFill>
          <a:ln/>
        </p:spPr>
      </p:sp>
      <p:sp>
        <p:nvSpPr>
          <p:cNvPr id="15" name="Shape 11"/>
          <p:cNvSpPr/>
          <p:nvPr/>
        </p:nvSpPr>
        <p:spPr>
          <a:xfrm>
            <a:off x="731520" y="2994660"/>
            <a:ext cx="548640" cy="548640"/>
          </a:xfrm>
          <a:prstGeom prst="ellipse">
            <a:avLst/>
          </a:prstGeom>
          <a:solidFill>
            <a:srgbClr val="132A4A"/>
          </a:solidFill>
          <a:ln/>
        </p:spPr>
      </p:sp>
      <p:pic>
        <p:nvPicPr>
          <p:cNvPr id="16" name="Image 2" descr="/home/claude/icons/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" y="311810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28803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Member 3 — Visualization Specialist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1463040" y="32461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analysis (Task 2.2), advanced visualizations (Task 3.2)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263640" y="274320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EAF0F7"/>
          </a:solidFill>
          <a:ln/>
        </p:spPr>
      </p:sp>
      <p:sp>
        <p:nvSpPr>
          <p:cNvPr id="20" name="Shape 15"/>
          <p:cNvSpPr/>
          <p:nvPr/>
        </p:nvSpPr>
        <p:spPr>
          <a:xfrm>
            <a:off x="6446520" y="2994660"/>
            <a:ext cx="548640" cy="548640"/>
          </a:xfrm>
          <a:prstGeom prst="ellipse">
            <a:avLst/>
          </a:prstGeom>
          <a:solidFill>
            <a:srgbClr val="132A4A"/>
          </a:solidFill>
          <a:ln/>
        </p:spPr>
      </p:sp>
      <p:pic>
        <p:nvPicPr>
          <p:cNvPr id="21" name="Image 3" descr="/home/claude/icons/pres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964" y="311810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78040" y="28803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Member 4 / All Members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7178040" y="32461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integration, documentation, and stakeholder presentation (Task 3.3)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members contribute to the dashboard, documentation, and presentation, and cross-review each other's work.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Electricity Grid Network Analysis  |  Task 3.3 Stakeholder Presentation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3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Structured Four-to-Five Week Development Cycle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05840" y="2286000"/>
            <a:ext cx="10149840" cy="0"/>
          </a:xfrm>
          <a:prstGeom prst="line">
            <a:avLst/>
          </a:prstGeom>
          <a:noFill/>
          <a:ln w="25400">
            <a:solidFill>
              <a:srgbClr val="3550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55648" y="2167128"/>
            <a:ext cx="237744" cy="237744"/>
          </a:xfrm>
          <a:prstGeom prst="ellipse">
            <a:avLst/>
          </a:prstGeom>
          <a:solidFill>
            <a:srgbClr val="E8A33D"/>
          </a:solidFill>
          <a:ln w="25400">
            <a:solidFill>
              <a:srgbClr val="132A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5603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1B3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3154680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Foundation &amp; Exploration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749040"/>
            <a:ext cx="23225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3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preprocessing, EDA, and data integration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26280" y="2167128"/>
            <a:ext cx="237744" cy="237744"/>
          </a:xfrm>
          <a:prstGeom prst="ellipse">
            <a:avLst/>
          </a:prstGeom>
          <a:solidFill>
            <a:srgbClr val="E8A33D"/>
          </a:solidFill>
          <a:ln w="25400">
            <a:solidFill>
              <a:srgbClr val="132A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19272" y="25603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19272" y="297180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1B3A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83864" y="3154680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Analysis &amp; Insights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483864" y="3749040"/>
            <a:ext cx="23225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3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analysis, geospatial analysis, business intelligence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296912" y="2167128"/>
            <a:ext cx="237744" cy="237744"/>
          </a:xfrm>
          <a:prstGeom prst="ellipse">
            <a:avLst/>
          </a:prstGeom>
          <a:solidFill>
            <a:srgbClr val="E8A33D"/>
          </a:solidFill>
          <a:ln w="25400">
            <a:solidFill>
              <a:srgbClr val="132A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89904" y="25603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89904" y="297180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1B3A5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54496" y="3154680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&amp; Presentation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254496" y="3749040"/>
            <a:ext cx="23225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3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visualizations, documentation, stakeholder presentation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067544" y="2167128"/>
            <a:ext cx="237744" cy="237744"/>
          </a:xfrm>
          <a:prstGeom prst="ellipse">
            <a:avLst/>
          </a:prstGeom>
          <a:solidFill>
            <a:srgbClr val="E8A33D"/>
          </a:solidFill>
          <a:ln w="25400">
            <a:solidFill>
              <a:srgbClr val="132A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860536" y="25603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4–5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860536" y="297180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1B3A5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025128" y="3154680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Buffer, Polish &amp; Demo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9025128" y="3749040"/>
            <a:ext cx="23225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3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Cross-review, refinement, final demonstration prep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892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here: Task 3.3 — Documentation &amp; Presentation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Electricity Grid Network Analysis  |  Task 3.3 Stakeholder Presentation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LOOKS LIKE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Presentation Is Evaluated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EAF0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132A4A"/>
          </a:solidFill>
          <a:ln/>
        </p:spPr>
      </p:sp>
      <p:pic>
        <p:nvPicPr>
          <p:cNvPr id="6" name="Image 0" descr="/home/claude/icons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978" y="1927098"/>
            <a:ext cx="352044" cy="3520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7830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Accuracy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19456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are correct, well-supported, and clearly tied to the data.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63640" y="150876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EAF0F7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1783080"/>
            <a:ext cx="640080" cy="640080"/>
          </a:xfrm>
          <a:prstGeom prst="ellipse">
            <a:avLst/>
          </a:prstGeom>
          <a:solidFill>
            <a:srgbClr val="132A4A"/>
          </a:solidFill>
          <a:ln/>
        </p:spPr>
      </p:sp>
      <p:pic>
        <p:nvPicPr>
          <p:cNvPr id="11" name="Image 1" descr="/home/claude/icons/pres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1978" y="192709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60920" y="17830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Clarity &amp; Delivery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360920" y="219456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well-timed, and easy to follow for a stakeholder audience.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74904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EAF0F7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023360"/>
            <a:ext cx="640080" cy="640080"/>
          </a:xfrm>
          <a:prstGeom prst="ellipse">
            <a:avLst/>
          </a:prstGeom>
          <a:solidFill>
            <a:srgbClr val="132A4A"/>
          </a:solidFill>
          <a:ln/>
        </p:spPr>
      </p:sp>
      <p:pic>
        <p:nvPicPr>
          <p:cNvPr id="16" name="Image 2" descr="/home/claude/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978" y="4167378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45920" y="40233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Design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645920" y="443484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Professional, engaging, and consistent presentation materials.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63640" y="374904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EAF0F7"/>
          </a:solidFill>
          <a:ln/>
        </p:spPr>
      </p:sp>
      <p:sp>
        <p:nvSpPr>
          <p:cNvPr id="20" name="Shape 15"/>
          <p:cNvSpPr/>
          <p:nvPr/>
        </p:nvSpPr>
        <p:spPr>
          <a:xfrm>
            <a:off x="6537960" y="4023360"/>
            <a:ext cx="640080" cy="640080"/>
          </a:xfrm>
          <a:prstGeom prst="ellipse">
            <a:avLst/>
          </a:prstGeom>
          <a:solidFill>
            <a:srgbClr val="132A4A"/>
          </a:solidFill>
          <a:ln/>
        </p:spPr>
      </p:sp>
      <p:pic>
        <p:nvPicPr>
          <p:cNvPr id="21" name="Image 3" descr="/home/claude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1978" y="4167378"/>
            <a:ext cx="352044" cy="3520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60920" y="40233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Contribution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7360920" y="443484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participation and evidence of genuine collaboration.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Electricity Grid Network Analysis  |  Task 3.3 Stakeholder Presentation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A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&amp;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to Keep in Mind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01368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/home/claude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397" y="1914525"/>
            <a:ext cx="276606" cy="27660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691640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C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coordinates, capacities, and connections are synthetic — not verified measurements of Ghana's real grid.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2898648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0" name="Image 1" descr="/home/claude/icons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397" y="3011805"/>
            <a:ext cx="276606" cy="27660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08760" y="2788920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C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findings are proxy-based (status, length, centrality), not real fault or outage data.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7947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777240" y="3995928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4" name="Image 2" descr="/home/claude/icons/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397" y="4109085"/>
            <a:ext cx="276606" cy="27660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08760" y="3886200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C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N-1 contingency here is simplified relative to the full engineering analysis grid operators run.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48920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7" name="Shape 12"/>
          <p:cNvSpPr/>
          <p:nvPr/>
        </p:nvSpPr>
        <p:spPr>
          <a:xfrm>
            <a:off x="777240" y="5093208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8" name="Image 3" descr="/home/claude/icons/warn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397" y="5206365"/>
            <a:ext cx="276606" cy="27660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08760" y="4983480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C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reflect this dataset's snapshot in time, not live operational conditions.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Electricity Grid Network Analysis  |  Task 3.3 Stakeholder Presentation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1188720"/>
            <a:ext cx="1005840" cy="10058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" name="Image 0" descr="/home/claude/icons/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9242" y="1415034"/>
            <a:ext cx="553212" cy="5532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246888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0" y="333756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E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181448" y="4023360"/>
            <a:ext cx="1828800" cy="18288"/>
          </a:xfrm>
          <a:prstGeom prst="rect">
            <a:avLst/>
          </a:prstGeom>
          <a:solidFill>
            <a:srgbClr val="2A466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0" y="42519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E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Electricity Grid Network Analysis  ·  CS 112 Summer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2026-08-28T20:23:00Z</dcterms:created>
  <dcterms:modified xsi:type="dcterms:W3CDTF">2026-08-28T20:23:00Z</dcterms:modified>
</cp:coreProperties>
</file>